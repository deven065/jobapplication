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8d84daa-92cc-3d2f-5caf-7c9624bde921}">
          <p14:sldIdLst>
            <p14:sldId id="256"/>
          </p14:sldIdLst>
        </p14:section>
        <p14:section name="Problem and approach" id="{f99d56cf-1d05-fcd5-adbb-6bf667cbe2a5}">
          <p14:sldIdLst>
            <p14:sldId id="257"/>
            <p14:sldId id="258"/>
          </p14:sldIdLst>
        </p14:section>
        <p14:section name="How it works" id="{6a3e273b-3c89-efa8-13f0-3c8b9790c785}">
          <p14:sldIdLst>
            <p14:sldId id="259"/>
            <p14:sldId id="260"/>
            <p14:sldId id="261"/>
            <p14:sldId id="262"/>
            <p14:sldId id="263"/>
          </p14:sldIdLst>
        </p14:section>
        <p14:section name="Results" id="{3853493a-8e57-d577-b16d-8b7fbf5fdc09}">
          <p14:sldIdLst>
            <p14:sldId id="264"/>
            <p14:sldId id="265"/>
            <p14:sldId id="266"/>
            <p14:sldId id="267"/>
          </p14:sldIdLst>
        </p14:section>
        <p14:section name="Close" id="{e9cbd029-8bbc-5f41-3e5c-1dc6ba5a2491}">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Deven. This is ProofPath, my project for the Kurukshetra Hackathon AI Career Coach challenge. Resumes make claims; ProofPath shows proof from real code, and it is clear about what it cannot prove. Everything you'll see is live on Render.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career tools read a resume and give advice. This brief asks for traceable evidence. Our core rule: the AI can judge evidence but never invent it. Three honesty rules follow: absence is scoped to the scan, mentions are not evidence, and we always report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loop from the brief. Steps one to three build the assessment; steps four and five, highlighted, are the live part: a real push is detected and the assessment updates by itself. The brief's own example is SQL going from not demonstrated to demonstrated after a commit adds a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Spring Boot service serves both the React dashboard and the API, backed by one PostgreSQL database. Teal outlines mark the live path: GitHub push or polling, reassessment, and the dashboard update. Polling is a durable fallback, so the demo never depends on a tunnel.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 come from a real posting. We fetch it safely, the AI maps it to our skill taxonomy, and we drop any skill whose quote isn't found word for word in the posting. On the right is a real extraction from a saved job: each skill shows the exact phrase that asked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required skill gets one of three verdicts, and each verdict cites the files it relied on. The readiness score is a progress indicator for the student: demonstrated skills count fully, partial ones count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answer 'how do you know the AI isn't making things up?'. The AI only sees excerpts we scanned and can only cite those paths. Untraceable claims are downgraded, and if the AI is down the page says so instead of pretending.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a static report can't fake. After we watch a repository, a signed push or the 60-second poll detects the new commit. The dashboard shows it as reassessing, then publishes the new version and marks the skills that improved.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deployed app on Render, not a mock-up. It uses PostgreSQL in production, redeploys on every push to main, and runs the AI review with Groq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of execution in numbers: thirteen automated tests including a secret scan, a polling fallback, a fast dashboard, and a small footprint that fits a free hosting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the commit in advance on a branch and merge it during the demo. Open the live site two minutes early so the free instance is awake, and keep a backup recording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to the four judging criteria. Each card names something you can verify directly in the live app or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ProofPath turns a resume claim into evidence a judge can click through, and it updates the moment the student improves their code.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05840"/>
            <a:ext cx="5852160" cy="365760"/>
          </a:xfrm>
          <a:prstGeom prst="rect">
            <a:avLst/>
          </a:prstGeom>
          <a:noFill/>
          <a:ln/>
        </p:spPr>
        <p:txBody>
          <a:bodyPr wrap="square" rtlCol="0"/>
          <a:lstStyle>
            <a:lvl1pPr indent="0" marL="0">
              <a:buNone/>
              <a:defRPr lang="en-US" sz="1200" b="1" spc="200" kern="0" dirty="0">
                <a:solidFill>
                  <a:schemeClr val="accent6"/>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548640" y="1463040"/>
            <a:ext cx="5852160" cy="114300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4" name="Text 0"/>
          <p:cNvSpPr/>
          <p:nvPr>
            <p:ph idx="102" type="body" hasCustomPrompt="1"/>
          </p:nvPr>
        </p:nvSpPr>
        <p:spPr>
          <a:xfrm>
            <a:off x="548640" y="2697480"/>
            <a:ext cx="5852160" cy="1005840"/>
          </a:xfrm>
          <a:prstGeom prst="rect">
            <a:avLst/>
          </a:prstGeom>
          <a:noFill/>
          <a:ln/>
        </p:spPr>
        <p:txBody>
          <a:bodyPr wrap="square" rtlCol="0"/>
          <a:lstStyle>
            <a:lvl1pPr indent="0" marL="0">
              <a:buNone/>
              <a:defRPr lang="en-US" sz="2400" dirty="0">
                <a:solidFill>
                  <a:schemeClr val="bg1"/>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P_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spc="200" kern="0"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B919C"/>
                </a:solidFill>
              </a:rPr>
              <a:t>ProofPath  ·  Kurukshetra Hackathon 2026</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B919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P_CLOSING">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280160"/>
            <a:ext cx="11094415" cy="365760"/>
          </a:xfrm>
          <a:prstGeom prst="rect">
            <a:avLst/>
          </a:prstGeom>
          <a:noFill/>
          <a:ln/>
        </p:spPr>
        <p:txBody>
          <a:bodyPr wrap="square" rtlCol="0"/>
          <a:lstStyle>
            <a:lvl1pPr indent="0" marL="0">
              <a:buNone/>
              <a:defRPr lang="en-US" sz="1200" b="1" spc="200" kern="0" dirty="0">
                <a:solidFill>
                  <a:schemeClr val="accent6"/>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548640" y="1737360"/>
            <a:ext cx="11094415" cy="118872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B919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005840"/>
            <a:ext cx="5852160" cy="365760"/>
          </a:xfrm>
          <a:prstGeom prst="rect">
            <a:avLst/>
          </a:prstGeom>
          <a:noFill/>
          <a:ln/>
        </p:spPr>
        <p:txBody>
          <a:bodyPr wrap="square" lIns="0" tIns="0" rIns="0" bIns="0" rtlCol="0"/>
          <a:lstStyle/>
          <a:p>
            <a:pPr indent="0" marL="0">
              <a:buNone/>
            </a:pPr>
            <a:r>
              <a:rPr lang="en-US" sz="1200" b="1" spc="200" kern="0" dirty="0">
                <a:solidFill>
                  <a:schemeClr val="accent6"/>
                </a:solidFill>
                <a:latin typeface="Courier New" pitchFamily="34" charset="0"/>
                <a:ea typeface="Courier New" pitchFamily="34" charset="-122"/>
                <a:cs typeface="Courier New" pitchFamily="34" charset="-120"/>
              </a:rPr>
              <a:t>KURUKSHETRA HACKATHON · AI CAREER COACH</a:t>
            </a:r>
            <a:endParaRPr lang="en-US" sz="1200" dirty="0"/>
          </a:p>
        </p:txBody>
      </p:sp>
      <p:sp>
        <p:nvSpPr>
          <p:cNvPr id="3" name="Text 0"/>
          <p:cNvSpPr/>
          <p:nvPr>
            <p:ph idx="101" type="title" hasCustomPrompt="1"/>
          </p:nvPr>
        </p:nvSpPr>
        <p:spPr>
          <a:xfrm>
            <a:off x="548640" y="1463040"/>
            <a:ext cx="5852160" cy="1143000"/>
          </a:xfrm>
          <a:prstGeom prst="rect">
            <a:avLst/>
          </a:prstGeom>
          <a:noFill/>
          <a:ln/>
        </p:spPr>
        <p:txBody>
          <a:bodyPr wrap="square" lIns="0" tIns="0" rIns="0" bIns="0" rtlCol="0" anchor="t"/>
          <a:lstStyle/>
          <a:p>
            <a:pPr indent="0" marL="0">
              <a:buNone/>
            </a:pPr>
            <a:r>
              <a:rPr lang="en-US" sz="5400" b="1" dirty="0">
                <a:solidFill>
                  <a:schemeClr val="bg1"/>
                </a:solidFill>
              </a:rPr>
              <a:t>ProofPath</a:t>
            </a:r>
            <a:endParaRPr lang="en-US" sz="5400" dirty="0"/>
          </a:p>
        </p:txBody>
      </p:sp>
      <p:sp>
        <p:nvSpPr>
          <p:cNvPr id="4" name="Text 0"/>
          <p:cNvSpPr/>
          <p:nvPr>
            <p:ph idx="102" type="body" hasCustomPrompt="1"/>
          </p:nvPr>
        </p:nvSpPr>
        <p:spPr>
          <a:xfrm>
            <a:off x="548640" y="2697480"/>
            <a:ext cx="5852160" cy="1005840"/>
          </a:xfrm>
          <a:prstGeom prst="rect">
            <a:avLst/>
          </a:prstGeom>
          <a:noFill/>
          <a:ln/>
        </p:spPr>
        <p:txBody>
          <a:bodyPr wrap="square" lIns="0" tIns="0" rIns="0" bIns="0" rtlCol="0" anchor="t"/>
          <a:lstStyle/>
          <a:p>
            <a:pPr indent="0" marL="0">
              <a:buNone/>
            </a:pPr>
            <a:r>
              <a:rPr lang="en-US" sz="2400" dirty="0">
                <a:solidFill>
                  <a:schemeClr val="bg1"/>
                </a:solidFill>
              </a:rPr>
              <a:t>Show what your code actually proves</a:t>
            </a:r>
            <a:endParaRPr lang="en-US" sz="2400" dirty="0"/>
          </a:p>
        </p:txBody>
      </p:sp>
      <p:sp>
        <p:nvSpPr>
          <p:cNvPr id="5" name="Pitch"/>
          <p:cNvSpPr txBox="1"/>
          <p:nvPr/>
        </p:nvSpPr>
        <p:spPr>
          <a:xfrm>
            <a:off x="548640" y="3840480"/>
            <a:ext cx="5669280" cy="1188720"/>
          </a:xfrm>
          <a:prstGeom prst="rect">
            <a:avLst/>
          </a:prstGeom>
          <a:noFill/>
          <a:ln/>
        </p:spPr>
        <p:txBody>
          <a:bodyPr wrap="square" lIns="0" tIns="0" rIns="0" bIns="0" rtlCol="0" anchor="t"/>
          <a:lstStyle/>
          <a:p>
            <a:pPr indent="0" marL="0">
              <a:buNone/>
            </a:pPr>
            <a:r>
              <a:rPr lang="en-US" sz="1600" dirty="0">
                <a:solidFill>
                  <a:srgbClr val="C9D0DD"/>
                </a:solidFill>
              </a:rPr>
              <a:t>An AI agent that compares a real job posting with evidence in a student's GitHub repository, explains every gap with cited files, and reassesses automatically on every push.</a:t>
            </a:r>
            <a:endParaRPr lang="en-US" sz="1600" dirty="0"/>
          </a:p>
        </p:txBody>
      </p:sp>
      <p:sp>
        <p:nvSpPr>
          <p:cNvPr id="6" name="Credits"/>
          <p:cNvSpPr txBox="1"/>
          <p:nvPr/>
        </p:nvSpPr>
        <p:spPr>
          <a:xfrm>
            <a:off x="548640" y="5257800"/>
            <a:ext cx="5669280" cy="594360"/>
          </a:xfrm>
          <a:prstGeom prst="rect">
            <a:avLst/>
          </a:prstGeom>
          <a:noFill/>
          <a:ln/>
        </p:spPr>
        <p:txBody>
          <a:bodyPr wrap="square" lIns="0" tIns="0" rIns="0" bIns="0" rtlCol="0" anchor="t"/>
          <a:lstStyle/>
          <a:p>
            <a:pPr indent="0" marL="0">
              <a:buNone/>
            </a:pPr>
            <a:r>
              <a:rPr lang="en-US" sz="1400" b="1" dirty="0">
                <a:solidFill>
                  <a:schemeClr val="bg1"/>
                </a:solidFill>
              </a:rPr>
              <a:t>Deven Rikame</a:t>
            </a:r>
            <a:endParaRPr lang="en-US" sz="1400" dirty="0"/>
          </a:p>
          <a:p>
            <a:pPr indent="0" marL="0">
              <a:buNone/>
            </a:pPr>
            <a:r>
              <a:rPr lang="en-US" sz="1400" dirty="0">
                <a:solidFill>
                  <a:srgbClr val="9AA3B5"/>
                </a:solidFill>
              </a:rPr>
              <a:t>Challenge sponsored by Worcflow</a:t>
            </a:r>
            <a:endParaRPr lang="en-US" sz="1400" dirty="0"/>
          </a:p>
        </p:txBody>
      </p:sp>
      <p:sp>
        <p:nvSpPr>
          <p:cNvPr id="7" name="Screenshot frame"/>
          <p:cNvSpPr/>
          <p:nvPr/>
        </p:nvSpPr>
        <p:spPr>
          <a:xfrm>
            <a:off x="6537960" y="1325880"/>
            <a:ext cx="5120640" cy="3200400"/>
          </a:xfrm>
          <a:prstGeom prst="roundRect">
            <a:avLst>
              <a:gd name="adj" fmla="val 2286"/>
            </a:avLst>
          </a:prstGeom>
          <a:solidFill>
            <a:srgbClr val="2B3448"/>
          </a:solidFill>
          <a:ln w="19050">
            <a:solidFill>
              <a:schemeClr val="accent2"/>
            </a:solidFill>
            <a:prstDash val="solid"/>
          </a:ln>
        </p:spPr>
      </p:sp>
      <p:pic>
        <p:nvPicPr>
          <p:cNvPr id="8" name="Live app screenshot" descr="ProofPath dashboard running live">    </p:cNvPr>
          <p:cNvPicPr>
            <a:picLocks noChangeAspect="1"/>
          </p:cNvPicPr>
          <p:nvPr/>
        </p:nvPicPr>
        <p:blipFill>
          <a:blip r:embed="rId1"/>
          <a:stretch>
            <a:fillRect/>
          </a:stretch>
        </p:blipFill>
        <p:spPr>
          <a:xfrm>
            <a:off x="6583680" y="1371600"/>
            <a:ext cx="5029200" cy="3143250"/>
          </a:xfrm>
          <a:prstGeom prst="rect">
            <a:avLst/>
          </a:prstGeom>
        </p:spPr>
      </p:pic>
      <p:sp>
        <p:nvSpPr>
          <p:cNvPr id="9" name="Live URL"/>
          <p:cNvSpPr txBox="1"/>
          <p:nvPr/>
        </p:nvSpPr>
        <p:spPr>
          <a:xfrm>
            <a:off x="6537960" y="4709160"/>
            <a:ext cx="5120640" cy="320040"/>
          </a:xfrm>
          <a:prstGeom prst="rect">
            <a:avLst/>
          </a:prstGeom>
          <a:noFill/>
          <a:ln/>
        </p:spPr>
        <p:txBody>
          <a:bodyPr wrap="square" lIns="0" tIns="0" rIns="0" bIns="0" rtlCol="0" anchor="t"/>
          <a:lstStyle/>
          <a:p>
            <a:pPr algn="ctr" indent="0" marL="0">
              <a:buNone/>
            </a:pPr>
            <a:r>
              <a:rPr lang="en-US" sz="1300" b="1" dirty="0">
                <a:solidFill>
                  <a:schemeClr val="accent6"/>
                </a:solidFill>
                <a:latin typeface="Courier New" pitchFamily="34" charset="0"/>
                <a:ea typeface="Courier New" pitchFamily="34" charset="-122"/>
                <a:cs typeface="Courier New" pitchFamily="34" charset="-120"/>
              </a:rPr>
              <a:t>proofpath-8r5b.onrender.com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01 · THE PROBLEM</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indent="0" marL="0">
              <a:buNone/>
            </a:pPr>
            <a:r>
              <a:rPr lang="en-US" sz="3200" b="1" dirty="0">
                <a:solidFill>
                  <a:schemeClr val="tx1"/>
                </a:solidFill>
              </a:rPr>
              <a:t>Resumes make claims. Judges want proof</a:t>
            </a:r>
            <a:endParaRPr lang="en-US" sz="3200" dirty="0"/>
          </a:p>
        </p:txBody>
      </p:sp>
      <p:sp>
        <p:nvSpPr>
          <p:cNvPr id="4" name="Problem statement"/>
          <p:cNvSpPr txBox="1"/>
          <p:nvPr/>
        </p:nvSpPr>
        <p:spPr>
          <a:xfrm>
            <a:off x="548640" y="1691640"/>
            <a:ext cx="5212080" cy="1463040"/>
          </a:xfrm>
          <a:prstGeom prst="rect">
            <a:avLst/>
          </a:prstGeom>
          <a:noFill/>
          <a:ln/>
        </p:spPr>
        <p:txBody>
          <a:bodyPr wrap="square" lIns="0" tIns="0" rIns="0" bIns="0" rtlCol="0" anchor="t"/>
          <a:lstStyle/>
          <a:p>
            <a:pPr indent="0" marL="0">
              <a:buNone/>
            </a:pPr>
            <a:r>
              <a:rPr lang="en-US" sz="1600" dirty="0">
                <a:solidFill>
                  <a:srgbClr val="5F6675"/>
                </a:solidFill>
              </a:rPr>
              <a:t>Students list skills that their public code may not show. The brief asks for something stricter: every verdict must trace back to a real job posting on one side and a file at an exact commit on the other.</a:t>
            </a:r>
            <a:endParaRPr lang="en-US" sz="1600" dirty="0"/>
          </a:p>
        </p:txBody>
      </p:sp>
      <p:sp>
        <p:nvSpPr>
          <p:cNvPr id="5" name="Core rule card"/>
          <p:cNvSpPr/>
          <p:nvPr/>
        </p:nvSpPr>
        <p:spPr>
          <a:xfrm>
            <a:off x="548640" y="3383280"/>
            <a:ext cx="5212080" cy="2423160"/>
          </a:xfrm>
          <a:prstGeom prst="roundRect">
            <a:avLst>
              <a:gd name="adj" fmla="val 4528"/>
            </a:avLst>
          </a:prstGeom>
          <a:solidFill>
            <a:schemeClr val="tx2"/>
          </a:solidFill>
          <a:ln/>
          <a:effectLst>
            <a:outerShdw sx="100000" sy="100000" kx="0" ky="0" algn="bl" rotWithShape="0" blurRad="101600" dist="25400" dir="5400000">
              <a:srgbClr val="1C2230">
                <a:alpha val="12000"/>
              </a:srgbClr>
            </a:outerShdw>
          </a:effectLst>
        </p:spPr>
      </p:sp>
      <p:sp>
        <p:nvSpPr>
          <p:cNvPr id="6" name="Core rule label"/>
          <p:cNvSpPr txBox="1"/>
          <p:nvPr/>
        </p:nvSpPr>
        <p:spPr>
          <a:xfrm>
            <a:off x="868680" y="3639312"/>
            <a:ext cx="4572000" cy="274320"/>
          </a:xfrm>
          <a:prstGeom prst="rect">
            <a:avLst/>
          </a:prstGeom>
          <a:noFill/>
          <a:ln/>
        </p:spPr>
        <p:txBody>
          <a:bodyPr wrap="square" lIns="0" tIns="0" rIns="0" bIns="0" rtlCol="0" anchor="t"/>
          <a:lstStyle/>
          <a:p>
            <a:pPr indent="0" marL="0">
              <a:buNone/>
            </a:pPr>
            <a:r>
              <a:rPr lang="en-US" sz="1200" b="1" spc="200" kern="0" dirty="0">
                <a:solidFill>
                  <a:schemeClr val="accent6"/>
                </a:solidFill>
                <a:latin typeface="Courier New" pitchFamily="34" charset="0"/>
                <a:ea typeface="Courier New" pitchFamily="34" charset="-122"/>
                <a:cs typeface="Courier New" pitchFamily="34" charset="-120"/>
              </a:rPr>
              <a:t>CORE RULE</a:t>
            </a:r>
            <a:endParaRPr lang="en-US" sz="1200" dirty="0"/>
          </a:p>
        </p:txBody>
      </p:sp>
      <p:sp>
        <p:nvSpPr>
          <p:cNvPr id="7" name="Core rule text"/>
          <p:cNvSpPr txBox="1"/>
          <p:nvPr/>
        </p:nvSpPr>
        <p:spPr>
          <a:xfrm>
            <a:off x="868680" y="4005072"/>
            <a:ext cx="4572000" cy="1600200"/>
          </a:xfrm>
          <a:prstGeom prst="rect">
            <a:avLst/>
          </a:prstGeom>
          <a:noFill/>
          <a:ln/>
        </p:spPr>
        <p:txBody>
          <a:bodyPr wrap="square" lIns="0" tIns="0" rIns="0" bIns="0" rtlCol="0" anchor="t"/>
          <a:lstStyle/>
          <a:p>
            <a:pPr indent="0" marL="0">
              <a:buNone/>
            </a:pPr>
            <a:r>
              <a:rPr lang="en-US" sz="1800" b="1" dirty="0">
                <a:solidFill>
                  <a:schemeClr val="bg1"/>
                </a:solidFill>
              </a:rPr>
              <a:t>The AI may judge evidence, but it can never invent it. A skill is only “demonstrated” when a file we actually scanned, at a specific commit, proves it.</a:t>
            </a:r>
            <a:endParaRPr lang="en-US" sz="1800" dirty="0"/>
          </a:p>
        </p:txBody>
      </p:sp>
      <p:sp>
        <p:nvSpPr>
          <p:cNvPr id="8" name="Rule 1 circle"/>
          <p:cNvSpPr/>
          <p:nvPr/>
        </p:nvSpPr>
        <p:spPr>
          <a:xfrm>
            <a:off x="6263640" y="1737360"/>
            <a:ext cx="457200" cy="457200"/>
          </a:xfrm>
          <a:prstGeom prst="ellipse">
            <a:avLst/>
          </a:prstGeom>
          <a:solidFill>
            <a:schemeClr val="accent1"/>
          </a:solidFill>
          <a:ln w="12700">
            <a:solidFill>
              <a:schemeClr val="accent1"/>
            </a:solidFill>
            <a:prstDash val="solid"/>
          </a:ln>
        </p:spPr>
      </p:sp>
      <p:sp>
        <p:nvSpPr>
          <p:cNvPr id="9" name="Rule 1 number"/>
          <p:cNvSpPr txBox="1"/>
          <p:nvPr/>
        </p:nvSpPr>
        <p:spPr>
          <a:xfrm>
            <a:off x="626364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a:t>
            </a:r>
            <a:endParaRPr lang="en-US" sz="1400" dirty="0"/>
          </a:p>
        </p:txBody>
      </p:sp>
      <p:sp>
        <p:nvSpPr>
          <p:cNvPr id="10" name="Rule 1 title"/>
          <p:cNvSpPr txBox="1"/>
          <p:nvPr/>
        </p:nvSpPr>
        <p:spPr>
          <a:xfrm>
            <a:off x="6903720" y="1719072"/>
            <a:ext cx="470916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Absence is scoped</a:t>
            </a:r>
            <a:endParaRPr lang="en-US" sz="1800" dirty="0"/>
          </a:p>
        </p:txBody>
      </p:sp>
      <p:sp>
        <p:nvSpPr>
          <p:cNvPr id="11" name="Rule 1 body"/>
          <p:cNvSpPr txBox="1"/>
          <p:nvPr/>
        </p:nvSpPr>
        <p:spPr>
          <a:xfrm>
            <a:off x="6903720" y="2121408"/>
            <a:ext cx="4709160" cy="822960"/>
          </a:xfrm>
          <a:prstGeom prst="rect">
            <a:avLst/>
          </a:prstGeom>
          <a:noFill/>
          <a:ln/>
        </p:spPr>
        <p:txBody>
          <a:bodyPr wrap="square" lIns="0" tIns="0" rIns="0" bIns="0" rtlCol="0" anchor="t"/>
          <a:lstStyle/>
          <a:p>
            <a:pPr indent="0" marL="0">
              <a:buNone/>
            </a:pPr>
            <a:r>
              <a:rPr lang="en-US" sz="1400" dirty="0">
                <a:solidFill>
                  <a:srgbClr val="5F6675"/>
                </a:solidFill>
              </a:rPr>
              <a:t>No signal means “not demonstrated in this scan”, never “the student lacks the skill”.</a:t>
            </a:r>
            <a:endParaRPr lang="en-US" sz="1400" dirty="0"/>
          </a:p>
        </p:txBody>
      </p:sp>
      <p:sp>
        <p:nvSpPr>
          <p:cNvPr id="12" name="Rule 2 circle"/>
          <p:cNvSpPr/>
          <p:nvPr/>
        </p:nvSpPr>
        <p:spPr>
          <a:xfrm>
            <a:off x="6263640" y="3108960"/>
            <a:ext cx="457200" cy="457200"/>
          </a:xfrm>
          <a:prstGeom prst="ellipse">
            <a:avLst/>
          </a:prstGeom>
          <a:solidFill>
            <a:schemeClr val="accent1"/>
          </a:solidFill>
          <a:ln w="12700">
            <a:solidFill>
              <a:schemeClr val="accent1"/>
            </a:solidFill>
            <a:prstDash val="solid"/>
          </a:ln>
        </p:spPr>
      </p:sp>
      <p:sp>
        <p:nvSpPr>
          <p:cNvPr id="13" name="Rule 2 number"/>
          <p:cNvSpPr txBox="1"/>
          <p:nvPr/>
        </p:nvSpPr>
        <p:spPr>
          <a:xfrm>
            <a:off x="6263640" y="3108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2</a:t>
            </a:r>
            <a:endParaRPr lang="en-US" sz="1400" dirty="0"/>
          </a:p>
        </p:txBody>
      </p:sp>
      <p:sp>
        <p:nvSpPr>
          <p:cNvPr id="14" name="Rule 2 title"/>
          <p:cNvSpPr txBox="1"/>
          <p:nvPr/>
        </p:nvSpPr>
        <p:spPr>
          <a:xfrm>
            <a:off x="6903720" y="3090672"/>
            <a:ext cx="470916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Mentions are not evidence</a:t>
            </a:r>
            <a:endParaRPr lang="en-US" sz="1800" dirty="0"/>
          </a:p>
        </p:txBody>
      </p:sp>
      <p:sp>
        <p:nvSpPr>
          <p:cNvPr id="15" name="Rule 2 body"/>
          <p:cNvSpPr txBox="1"/>
          <p:nvPr/>
        </p:nvSpPr>
        <p:spPr>
          <a:xfrm>
            <a:off x="6903720" y="3493008"/>
            <a:ext cx="4709160" cy="822960"/>
          </a:xfrm>
          <a:prstGeom prst="rect">
            <a:avLst/>
          </a:prstGeom>
          <a:noFill/>
          <a:ln/>
        </p:spPr>
        <p:txBody>
          <a:bodyPr wrap="square" lIns="0" tIns="0" rIns="0" bIns="0" rtlCol="0" anchor="t"/>
          <a:lstStyle/>
          <a:p>
            <a:pPr indent="0" marL="0">
              <a:buNone/>
            </a:pPr>
            <a:r>
              <a:rPr lang="en-US" sz="1400" dirty="0">
                <a:solidFill>
                  <a:srgbClr val="5F6675"/>
                </a:solidFill>
              </a:rPr>
              <a:t>A word in a comment or a URL matches a keyword, but the AI rejects it and the rejected signal stays visible.</a:t>
            </a:r>
            <a:endParaRPr lang="en-US" sz="1400" dirty="0"/>
          </a:p>
        </p:txBody>
      </p:sp>
      <p:sp>
        <p:nvSpPr>
          <p:cNvPr id="16" name="Rule 3 circle"/>
          <p:cNvSpPr/>
          <p:nvPr/>
        </p:nvSpPr>
        <p:spPr>
          <a:xfrm>
            <a:off x="6263640" y="4480560"/>
            <a:ext cx="457200" cy="457200"/>
          </a:xfrm>
          <a:prstGeom prst="ellipse">
            <a:avLst/>
          </a:prstGeom>
          <a:solidFill>
            <a:schemeClr val="accent1"/>
          </a:solidFill>
          <a:ln w="12700">
            <a:solidFill>
              <a:schemeClr val="accent1"/>
            </a:solidFill>
            <a:prstDash val="solid"/>
          </a:ln>
        </p:spPr>
      </p:sp>
      <p:sp>
        <p:nvSpPr>
          <p:cNvPr id="17" name="Rule 3 number"/>
          <p:cNvSpPr txBox="1"/>
          <p:nvPr/>
        </p:nvSpPr>
        <p:spPr>
          <a:xfrm>
            <a:off x="6263640" y="44805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3</a:t>
            </a:r>
            <a:endParaRPr lang="en-US" sz="1400" dirty="0"/>
          </a:p>
        </p:txBody>
      </p:sp>
      <p:sp>
        <p:nvSpPr>
          <p:cNvPr id="18" name="Rule 3 title"/>
          <p:cNvSpPr txBox="1"/>
          <p:nvPr/>
        </p:nvSpPr>
        <p:spPr>
          <a:xfrm>
            <a:off x="6903720" y="4462272"/>
            <a:ext cx="470916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Coverage is reported</a:t>
            </a:r>
            <a:endParaRPr lang="en-US" sz="1800" dirty="0"/>
          </a:p>
        </p:txBody>
      </p:sp>
      <p:sp>
        <p:nvSpPr>
          <p:cNvPr id="19" name="Rule 3 body"/>
          <p:cNvSpPr txBox="1"/>
          <p:nvPr/>
        </p:nvSpPr>
        <p:spPr>
          <a:xfrm>
            <a:off x="6903720" y="4864608"/>
            <a:ext cx="4709160" cy="822960"/>
          </a:xfrm>
          <a:prstGeom prst="rect">
            <a:avLst/>
          </a:prstGeom>
          <a:noFill/>
          <a:ln/>
        </p:spPr>
        <p:txBody>
          <a:bodyPr wrap="square" lIns="0" tIns="0" rIns="0" bIns="0" rtlCol="0" anchor="t"/>
          <a:lstStyle/>
          <a:p>
            <a:pPr indent="0" marL="0">
              <a:buNone/>
            </a:pPr>
            <a:r>
              <a:rPr lang="en-US" sz="1400" dirty="0">
                <a:solidFill>
                  <a:srgbClr val="5F6675"/>
                </a:solidFill>
              </a:rPr>
              <a:t>Files read, files skipped and partial trees are shown, so a missing signal is never over-read.</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B919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02 · THE LOOP</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indent="0" marL="0">
              <a:buNone/>
            </a:pPr>
            <a:r>
              <a:rPr lang="en-US" sz="3200" b="1" dirty="0">
                <a:solidFill>
                  <a:schemeClr val="tx1"/>
                </a:solidFill>
              </a:rPr>
              <a:t>One loop, end to end, with nothing refreshed by hand</a:t>
            </a:r>
            <a:endParaRPr lang="en-US" sz="3200" dirty="0"/>
          </a:p>
        </p:txBody>
      </p:sp>
      <p:sp>
        <p:nvSpPr>
          <p:cNvPr id="4" name="Step 1 card"/>
          <p:cNvSpPr/>
          <p:nvPr/>
        </p:nvSpPr>
        <p:spPr>
          <a:xfrm>
            <a:off x="548640" y="1828800"/>
            <a:ext cx="1999427" cy="2514600"/>
          </a:xfrm>
          <a:prstGeom prst="roundRect">
            <a:avLst>
              <a:gd name="adj" fmla="val 5488"/>
            </a:avLst>
          </a:prstGeom>
          <a:solidFill>
            <a:schemeClr val="bg2"/>
          </a:solidFill>
          <a:ln/>
          <a:effectLst>
            <a:outerShdw sx="100000" sy="100000" kx="0" ky="0" algn="bl" rotWithShape="0" blurRad="101600" dist="25400" dir="5400000">
              <a:srgbClr val="1C2230">
                <a:alpha val="12000"/>
              </a:srgbClr>
            </a:outerShdw>
          </a:effectLst>
        </p:spPr>
      </p:sp>
      <p:sp>
        <p:nvSpPr>
          <p:cNvPr id="5" name="Step 1 circle"/>
          <p:cNvSpPr/>
          <p:nvPr/>
        </p:nvSpPr>
        <p:spPr>
          <a:xfrm>
            <a:off x="777240" y="2084832"/>
            <a:ext cx="457200" cy="457200"/>
          </a:xfrm>
          <a:prstGeom prst="ellipse">
            <a:avLst/>
          </a:prstGeom>
          <a:solidFill>
            <a:schemeClr val="accent1"/>
          </a:solidFill>
          <a:ln w="12700">
            <a:solidFill>
              <a:schemeClr val="accent1"/>
            </a:solidFill>
            <a:prstDash val="solid"/>
          </a:ln>
        </p:spPr>
      </p:sp>
      <p:sp>
        <p:nvSpPr>
          <p:cNvPr id="6" name="Step 1 number"/>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a:t>
            </a:r>
            <a:endParaRPr lang="en-US" sz="1400" dirty="0"/>
          </a:p>
        </p:txBody>
      </p:sp>
      <p:sp>
        <p:nvSpPr>
          <p:cNvPr id="7" name="Step 1 title"/>
          <p:cNvSpPr txBox="1"/>
          <p:nvPr/>
        </p:nvSpPr>
        <p:spPr>
          <a:xfrm>
            <a:off x="777240" y="2724912"/>
            <a:ext cx="1587947" cy="68580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Job requirements</a:t>
            </a:r>
            <a:endParaRPr lang="en-US" sz="1700" dirty="0"/>
          </a:p>
        </p:txBody>
      </p:sp>
      <p:sp>
        <p:nvSpPr>
          <p:cNvPr id="8" name="Step 1 body"/>
          <p:cNvSpPr txBox="1"/>
          <p:nvPr/>
        </p:nvSpPr>
        <p:spPr>
          <a:xfrm>
            <a:off x="777240" y="3401568"/>
            <a:ext cx="1587947" cy="868680"/>
          </a:xfrm>
          <a:prstGeom prst="rect">
            <a:avLst/>
          </a:prstGeom>
          <a:noFill/>
          <a:ln/>
        </p:spPr>
        <p:txBody>
          <a:bodyPr wrap="square" lIns="0" tIns="0" rIns="0" bIns="0" rtlCol="0" anchor="t"/>
          <a:lstStyle/>
          <a:p>
            <a:pPr indent="0" marL="0">
              <a:buNone/>
            </a:pPr>
            <a:r>
              <a:rPr lang="en-US" sz="1400" dirty="0">
                <a:solidFill>
                  <a:srgbClr val="5F6675"/>
                </a:solidFill>
              </a:rPr>
              <a:t>Real posting, source link kept, every skill quoted</a:t>
            </a:r>
            <a:endParaRPr lang="en-US" sz="1400" dirty="0"/>
          </a:p>
        </p:txBody>
      </p:sp>
      <p:sp>
        <p:nvSpPr>
          <p:cNvPr id="9" name="Arrow 1"/>
          <p:cNvSpPr txBox="1"/>
          <p:nvPr/>
        </p:nvSpPr>
        <p:spPr>
          <a:xfrm>
            <a:off x="2548067" y="2857500"/>
            <a:ext cx="274320"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10" name="Step 2 card"/>
          <p:cNvSpPr/>
          <p:nvPr/>
        </p:nvSpPr>
        <p:spPr>
          <a:xfrm>
            <a:off x="2822387" y="1828800"/>
            <a:ext cx="1999427" cy="2514600"/>
          </a:xfrm>
          <a:prstGeom prst="roundRect">
            <a:avLst>
              <a:gd name="adj" fmla="val 5488"/>
            </a:avLst>
          </a:prstGeom>
          <a:solidFill>
            <a:schemeClr val="bg2"/>
          </a:solidFill>
          <a:ln/>
          <a:effectLst>
            <a:outerShdw sx="100000" sy="100000" kx="0" ky="0" algn="bl" rotWithShape="0" blurRad="101600" dist="25400" dir="5400000">
              <a:srgbClr val="1C2230">
                <a:alpha val="12000"/>
              </a:srgbClr>
            </a:outerShdw>
          </a:effectLst>
        </p:spPr>
      </p:sp>
      <p:sp>
        <p:nvSpPr>
          <p:cNvPr id="11" name="Step 2 circle"/>
          <p:cNvSpPr/>
          <p:nvPr/>
        </p:nvSpPr>
        <p:spPr>
          <a:xfrm>
            <a:off x="3050987" y="2084832"/>
            <a:ext cx="457200" cy="457200"/>
          </a:xfrm>
          <a:prstGeom prst="ellipse">
            <a:avLst/>
          </a:prstGeom>
          <a:solidFill>
            <a:schemeClr val="accent1"/>
          </a:solidFill>
          <a:ln w="12700">
            <a:solidFill>
              <a:schemeClr val="accent1"/>
            </a:solidFill>
            <a:prstDash val="solid"/>
          </a:ln>
        </p:spPr>
      </p:sp>
      <p:sp>
        <p:nvSpPr>
          <p:cNvPr id="12" name="Step 2 number"/>
          <p:cNvSpPr txBox="1"/>
          <p:nvPr/>
        </p:nvSpPr>
        <p:spPr>
          <a:xfrm>
            <a:off x="3050987" y="2084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2</a:t>
            </a:r>
            <a:endParaRPr lang="en-US" sz="1400" dirty="0"/>
          </a:p>
        </p:txBody>
      </p:sp>
      <p:sp>
        <p:nvSpPr>
          <p:cNvPr id="13" name="Step 2 title"/>
          <p:cNvSpPr txBox="1"/>
          <p:nvPr/>
        </p:nvSpPr>
        <p:spPr>
          <a:xfrm>
            <a:off x="3050987" y="2724912"/>
            <a:ext cx="1587947" cy="68580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Repository evidence</a:t>
            </a:r>
            <a:endParaRPr lang="en-US" sz="1700" dirty="0"/>
          </a:p>
        </p:txBody>
      </p:sp>
      <p:sp>
        <p:nvSpPr>
          <p:cNvPr id="14" name="Step 2 body"/>
          <p:cNvSpPr txBox="1"/>
          <p:nvPr/>
        </p:nvSpPr>
        <p:spPr>
          <a:xfrm>
            <a:off x="3050987" y="3401568"/>
            <a:ext cx="1587947" cy="868680"/>
          </a:xfrm>
          <a:prstGeom prst="rect">
            <a:avLst/>
          </a:prstGeom>
          <a:noFill/>
          <a:ln/>
        </p:spPr>
        <p:txBody>
          <a:bodyPr wrap="square" lIns="0" tIns="0" rIns="0" bIns="0" rtlCol="0" anchor="t"/>
          <a:lstStyle/>
          <a:p>
            <a:pPr indent="0" marL="0">
              <a:buNone/>
            </a:pPr>
            <a:r>
              <a:rPr lang="en-US" sz="1400" dirty="0">
                <a:solidFill>
                  <a:srgbClr val="5F6675"/>
                </a:solidFill>
              </a:rPr>
              <a:t>Files read at an exact commit, with permalinks</a:t>
            </a:r>
            <a:endParaRPr lang="en-US" sz="1400" dirty="0"/>
          </a:p>
        </p:txBody>
      </p:sp>
      <p:sp>
        <p:nvSpPr>
          <p:cNvPr id="15" name="Arrow 2"/>
          <p:cNvSpPr txBox="1"/>
          <p:nvPr/>
        </p:nvSpPr>
        <p:spPr>
          <a:xfrm>
            <a:off x="4821814" y="2857500"/>
            <a:ext cx="274320"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16" name="Step 3 card"/>
          <p:cNvSpPr/>
          <p:nvPr/>
        </p:nvSpPr>
        <p:spPr>
          <a:xfrm>
            <a:off x="5096134" y="1828800"/>
            <a:ext cx="1999427" cy="2514600"/>
          </a:xfrm>
          <a:prstGeom prst="roundRect">
            <a:avLst>
              <a:gd name="adj" fmla="val 5488"/>
            </a:avLst>
          </a:prstGeom>
          <a:solidFill>
            <a:schemeClr val="bg2"/>
          </a:solidFill>
          <a:ln/>
          <a:effectLst>
            <a:outerShdw sx="100000" sy="100000" kx="0" ky="0" algn="bl" rotWithShape="0" blurRad="101600" dist="25400" dir="5400000">
              <a:srgbClr val="1C2230">
                <a:alpha val="12000"/>
              </a:srgbClr>
            </a:outerShdw>
          </a:effectLst>
        </p:spPr>
      </p:sp>
      <p:sp>
        <p:nvSpPr>
          <p:cNvPr id="17" name="Step 3 circle"/>
          <p:cNvSpPr/>
          <p:nvPr/>
        </p:nvSpPr>
        <p:spPr>
          <a:xfrm>
            <a:off x="5324734" y="2084832"/>
            <a:ext cx="457200" cy="457200"/>
          </a:xfrm>
          <a:prstGeom prst="ellipse">
            <a:avLst/>
          </a:prstGeom>
          <a:solidFill>
            <a:schemeClr val="accent1"/>
          </a:solidFill>
          <a:ln w="12700">
            <a:solidFill>
              <a:schemeClr val="accent1"/>
            </a:solidFill>
            <a:prstDash val="solid"/>
          </a:ln>
        </p:spPr>
      </p:sp>
      <p:sp>
        <p:nvSpPr>
          <p:cNvPr id="18" name="Step 3 number"/>
          <p:cNvSpPr txBox="1"/>
          <p:nvPr/>
        </p:nvSpPr>
        <p:spPr>
          <a:xfrm>
            <a:off x="5324734" y="208483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3</a:t>
            </a:r>
            <a:endParaRPr lang="en-US" sz="1400" dirty="0"/>
          </a:p>
        </p:txBody>
      </p:sp>
      <p:sp>
        <p:nvSpPr>
          <p:cNvPr id="19" name="Step 3 title"/>
          <p:cNvSpPr txBox="1"/>
          <p:nvPr/>
        </p:nvSpPr>
        <p:spPr>
          <a:xfrm>
            <a:off x="5324734" y="2724912"/>
            <a:ext cx="1587947" cy="685800"/>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Gaps explained</a:t>
            </a:r>
            <a:endParaRPr lang="en-US" sz="1700" dirty="0"/>
          </a:p>
        </p:txBody>
      </p:sp>
      <p:sp>
        <p:nvSpPr>
          <p:cNvPr id="20" name="Step 3 body"/>
          <p:cNvSpPr txBox="1"/>
          <p:nvPr/>
        </p:nvSpPr>
        <p:spPr>
          <a:xfrm>
            <a:off x="5324734" y="3401568"/>
            <a:ext cx="1587947" cy="868680"/>
          </a:xfrm>
          <a:prstGeom prst="rect">
            <a:avLst/>
          </a:prstGeom>
          <a:noFill/>
          <a:ln/>
        </p:spPr>
        <p:txBody>
          <a:bodyPr wrap="square" lIns="0" tIns="0" rIns="0" bIns="0" rtlCol="0" anchor="t"/>
          <a:lstStyle/>
          <a:p>
            <a:pPr indent="0" marL="0">
              <a:buNone/>
            </a:pPr>
            <a:r>
              <a:rPr lang="en-US" sz="1400" dirty="0">
                <a:solidFill>
                  <a:srgbClr val="5F6675"/>
                </a:solidFill>
              </a:rPr>
              <a:t>Verdict, confidence and a concrete next step</a:t>
            </a:r>
            <a:endParaRPr lang="en-US" sz="1400" dirty="0"/>
          </a:p>
        </p:txBody>
      </p:sp>
      <p:sp>
        <p:nvSpPr>
          <p:cNvPr id="21" name="Arrow 3"/>
          <p:cNvSpPr txBox="1"/>
          <p:nvPr/>
        </p:nvSpPr>
        <p:spPr>
          <a:xfrm>
            <a:off x="7095561" y="2857500"/>
            <a:ext cx="274320"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22" name="Step 4 card"/>
          <p:cNvSpPr/>
          <p:nvPr/>
        </p:nvSpPr>
        <p:spPr>
          <a:xfrm>
            <a:off x="7369881" y="1828800"/>
            <a:ext cx="1999427" cy="2514600"/>
          </a:xfrm>
          <a:prstGeom prst="roundRect">
            <a:avLst>
              <a:gd name="adj" fmla="val 5488"/>
            </a:avLst>
          </a:prstGeom>
          <a:solidFill>
            <a:schemeClr val="tx2"/>
          </a:solidFill>
          <a:ln/>
          <a:effectLst>
            <a:outerShdw sx="100000" sy="100000" kx="0" ky="0" algn="bl" rotWithShape="0" blurRad="101600" dist="25400" dir="5400000">
              <a:srgbClr val="1C2230">
                <a:alpha val="12000"/>
              </a:srgbClr>
            </a:outerShdw>
          </a:effectLst>
        </p:spPr>
      </p:sp>
      <p:sp>
        <p:nvSpPr>
          <p:cNvPr id="23" name="Step 4 circle"/>
          <p:cNvSpPr/>
          <p:nvPr/>
        </p:nvSpPr>
        <p:spPr>
          <a:xfrm>
            <a:off x="7598481" y="2084832"/>
            <a:ext cx="457200" cy="457200"/>
          </a:xfrm>
          <a:prstGeom prst="ellipse">
            <a:avLst/>
          </a:prstGeom>
          <a:solidFill>
            <a:schemeClr val="accent6"/>
          </a:solidFill>
          <a:ln w="12700">
            <a:solidFill>
              <a:schemeClr val="accent6"/>
            </a:solidFill>
            <a:prstDash val="solid"/>
          </a:ln>
        </p:spPr>
      </p:sp>
      <p:sp>
        <p:nvSpPr>
          <p:cNvPr id="24" name="Step 4 number"/>
          <p:cNvSpPr txBox="1"/>
          <p:nvPr/>
        </p:nvSpPr>
        <p:spPr>
          <a:xfrm>
            <a:off x="7598481" y="2084832"/>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latin typeface="Courier New" pitchFamily="34" charset="0"/>
                <a:ea typeface="Courier New" pitchFamily="34" charset="-122"/>
                <a:cs typeface="Courier New" pitchFamily="34" charset="-120"/>
              </a:rPr>
              <a:t>4</a:t>
            </a:r>
            <a:endParaRPr lang="en-US" sz="1400" dirty="0"/>
          </a:p>
        </p:txBody>
      </p:sp>
      <p:sp>
        <p:nvSpPr>
          <p:cNvPr id="25" name="Step 4 title"/>
          <p:cNvSpPr txBox="1"/>
          <p:nvPr/>
        </p:nvSpPr>
        <p:spPr>
          <a:xfrm>
            <a:off x="7598481" y="2724912"/>
            <a:ext cx="1587947" cy="685800"/>
          </a:xfrm>
          <a:prstGeom prst="rect">
            <a:avLst/>
          </a:prstGeom>
          <a:noFill/>
          <a:ln/>
        </p:spPr>
        <p:txBody>
          <a:bodyPr wrap="square" lIns="0" tIns="0" rIns="0" bIns="0" rtlCol="0" anchor="t"/>
          <a:lstStyle/>
          <a:p>
            <a:pPr indent="0" marL="0">
              <a:buNone/>
            </a:pPr>
            <a:r>
              <a:rPr lang="en-US" sz="1700" b="1" dirty="0">
                <a:solidFill>
                  <a:schemeClr val="bg1"/>
                </a:solidFill>
                <a:latin typeface="Arial" pitchFamily="34" charset="0"/>
                <a:ea typeface="Arial" pitchFamily="34" charset="-122"/>
                <a:cs typeface="Arial" pitchFamily="34" charset="-120"/>
              </a:rPr>
              <a:t>Code change</a:t>
            </a:r>
            <a:endParaRPr lang="en-US" sz="1700" dirty="0"/>
          </a:p>
        </p:txBody>
      </p:sp>
      <p:sp>
        <p:nvSpPr>
          <p:cNvPr id="26" name="Step 4 body"/>
          <p:cNvSpPr txBox="1"/>
          <p:nvPr/>
        </p:nvSpPr>
        <p:spPr>
          <a:xfrm>
            <a:off x="7598481" y="3401568"/>
            <a:ext cx="1587947" cy="868680"/>
          </a:xfrm>
          <a:prstGeom prst="rect">
            <a:avLst/>
          </a:prstGeom>
          <a:noFill/>
          <a:ln/>
        </p:spPr>
        <p:txBody>
          <a:bodyPr wrap="square" lIns="0" tIns="0" rIns="0" bIns="0" rtlCol="0" anchor="t"/>
          <a:lstStyle/>
          <a:p>
            <a:pPr indent="0" marL="0">
              <a:buNone/>
            </a:pPr>
            <a:r>
              <a:rPr lang="en-US" sz="1400" dirty="0">
                <a:solidFill>
                  <a:srgbClr val="C9D0DD"/>
                </a:solidFill>
              </a:rPr>
              <a:t>A real push is detected by webhook or polling</a:t>
            </a:r>
            <a:endParaRPr lang="en-US" sz="1400" dirty="0"/>
          </a:p>
        </p:txBody>
      </p:sp>
      <p:sp>
        <p:nvSpPr>
          <p:cNvPr id="27" name="Arrow 4"/>
          <p:cNvSpPr txBox="1"/>
          <p:nvPr/>
        </p:nvSpPr>
        <p:spPr>
          <a:xfrm>
            <a:off x="9369308" y="2857500"/>
            <a:ext cx="274320" cy="457200"/>
          </a:xfrm>
          <a:prstGeom prst="rect">
            <a:avLst/>
          </a:prstGeom>
          <a:noFill/>
          <a:ln/>
        </p:spPr>
        <p:txBody>
          <a:bodyPr wrap="square" lIns="0" tIns="0" rIns="0" bIns="0" rtlCol="0" anchor="ctr"/>
          <a:lstStyle/>
          <a:p>
            <a:pPr algn="ctr" indent="0" marL="0">
              <a:buNone/>
            </a:pPr>
            <a:r>
              <a:rPr lang="en-US" sz="2000" b="1" dirty="0">
                <a:solidFill>
                  <a:schemeClr val="accent1"/>
                </a:solidFill>
              </a:rPr>
              <a:t>→</a:t>
            </a:r>
            <a:endParaRPr lang="en-US" sz="2000" dirty="0"/>
          </a:p>
        </p:txBody>
      </p:sp>
      <p:sp>
        <p:nvSpPr>
          <p:cNvPr id="28" name="Step 5 card"/>
          <p:cNvSpPr/>
          <p:nvPr/>
        </p:nvSpPr>
        <p:spPr>
          <a:xfrm>
            <a:off x="9643628" y="1828800"/>
            <a:ext cx="1999427" cy="2514600"/>
          </a:xfrm>
          <a:prstGeom prst="roundRect">
            <a:avLst>
              <a:gd name="adj" fmla="val 5488"/>
            </a:avLst>
          </a:prstGeom>
          <a:solidFill>
            <a:schemeClr val="tx2"/>
          </a:solidFill>
          <a:ln/>
          <a:effectLst>
            <a:outerShdw sx="100000" sy="100000" kx="0" ky="0" algn="bl" rotWithShape="0" blurRad="101600" dist="25400" dir="5400000">
              <a:srgbClr val="1C2230">
                <a:alpha val="12000"/>
              </a:srgbClr>
            </a:outerShdw>
          </a:effectLst>
        </p:spPr>
      </p:sp>
      <p:sp>
        <p:nvSpPr>
          <p:cNvPr id="29" name="Step 5 circle"/>
          <p:cNvSpPr/>
          <p:nvPr/>
        </p:nvSpPr>
        <p:spPr>
          <a:xfrm>
            <a:off x="9872228" y="2084832"/>
            <a:ext cx="457200" cy="457200"/>
          </a:xfrm>
          <a:prstGeom prst="ellipse">
            <a:avLst/>
          </a:prstGeom>
          <a:solidFill>
            <a:schemeClr val="accent6"/>
          </a:solidFill>
          <a:ln w="12700">
            <a:solidFill>
              <a:schemeClr val="accent6"/>
            </a:solidFill>
            <a:prstDash val="solid"/>
          </a:ln>
        </p:spPr>
      </p:sp>
      <p:sp>
        <p:nvSpPr>
          <p:cNvPr id="30" name="Step 5 number"/>
          <p:cNvSpPr txBox="1"/>
          <p:nvPr/>
        </p:nvSpPr>
        <p:spPr>
          <a:xfrm>
            <a:off x="9872228" y="2084832"/>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latin typeface="Courier New" pitchFamily="34" charset="0"/>
                <a:ea typeface="Courier New" pitchFamily="34" charset="-122"/>
                <a:cs typeface="Courier New" pitchFamily="34" charset="-120"/>
              </a:rPr>
              <a:t>5</a:t>
            </a:r>
            <a:endParaRPr lang="en-US" sz="1400" dirty="0"/>
          </a:p>
        </p:txBody>
      </p:sp>
      <p:sp>
        <p:nvSpPr>
          <p:cNvPr id="31" name="Step 5 title"/>
          <p:cNvSpPr txBox="1"/>
          <p:nvPr/>
        </p:nvSpPr>
        <p:spPr>
          <a:xfrm>
            <a:off x="9872228" y="2724912"/>
            <a:ext cx="1587947" cy="685800"/>
          </a:xfrm>
          <a:prstGeom prst="rect">
            <a:avLst/>
          </a:prstGeom>
          <a:noFill/>
          <a:ln/>
        </p:spPr>
        <p:txBody>
          <a:bodyPr wrap="square" lIns="0" tIns="0" rIns="0" bIns="0" rtlCol="0" anchor="t"/>
          <a:lstStyle/>
          <a:p>
            <a:pPr indent="0" marL="0">
              <a:buNone/>
            </a:pPr>
            <a:r>
              <a:rPr lang="en-US" sz="1700" b="1" dirty="0">
                <a:solidFill>
                  <a:schemeClr val="bg1"/>
                </a:solidFill>
                <a:latin typeface="Arial" pitchFamily="34" charset="0"/>
                <a:ea typeface="Arial" pitchFamily="34" charset="-122"/>
                <a:cs typeface="Arial" pitchFamily="34" charset="-120"/>
              </a:rPr>
              <a:t>Updated assessment</a:t>
            </a:r>
            <a:endParaRPr lang="en-US" sz="1700" dirty="0"/>
          </a:p>
        </p:txBody>
      </p:sp>
      <p:sp>
        <p:nvSpPr>
          <p:cNvPr id="32" name="Step 5 body"/>
          <p:cNvSpPr txBox="1"/>
          <p:nvPr/>
        </p:nvSpPr>
        <p:spPr>
          <a:xfrm>
            <a:off x="9872228" y="3401568"/>
            <a:ext cx="1587947" cy="868680"/>
          </a:xfrm>
          <a:prstGeom prst="rect">
            <a:avLst/>
          </a:prstGeom>
          <a:noFill/>
          <a:ln/>
        </p:spPr>
        <p:txBody>
          <a:bodyPr wrap="square" lIns="0" tIns="0" rIns="0" bIns="0" rtlCol="0" anchor="t"/>
          <a:lstStyle/>
          <a:p>
            <a:pPr indent="0" marL="0">
              <a:buNone/>
            </a:pPr>
            <a:r>
              <a:rPr lang="en-US" sz="1400" dirty="0">
                <a:solidFill>
                  <a:srgbClr val="C9D0DD"/>
                </a:solidFill>
              </a:rPr>
              <a:t>Reassessed automatically, cites the new files</a:t>
            </a:r>
            <a:endParaRPr lang="en-US" sz="1400" dirty="0"/>
          </a:p>
        </p:txBody>
      </p:sp>
      <p:sp>
        <p:nvSpPr>
          <p:cNvPr id="33" name="Example card"/>
          <p:cNvSpPr/>
          <p:nvPr/>
        </p:nvSpPr>
        <p:spPr>
          <a:xfrm>
            <a:off x="548640" y="4754880"/>
            <a:ext cx="11094415" cy="1188720"/>
          </a:xfrm>
          <a:prstGeom prst="roundRect">
            <a:avLst>
              <a:gd name="adj" fmla="val 9231"/>
            </a:avLst>
          </a:prstGeom>
          <a:solidFill>
            <a:schemeClr val="bg2"/>
          </a:solidFill>
          <a:ln/>
          <a:effectLst>
            <a:outerShdw sx="100000" sy="100000" kx="0" ky="0" algn="bl" rotWithShape="0" blurRad="101600" dist="25400" dir="5400000">
              <a:srgbClr val="1C2230">
                <a:alpha val="12000"/>
              </a:srgbClr>
            </a:outerShdw>
          </a:effectLst>
        </p:spPr>
      </p:sp>
      <p:sp>
        <p:nvSpPr>
          <p:cNvPr id="34" name="Example label"/>
          <p:cNvSpPr txBox="1"/>
          <p:nvPr/>
        </p:nvSpPr>
        <p:spPr>
          <a:xfrm>
            <a:off x="868680" y="4919472"/>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THE BRIEF'S EXAMPLE</a:t>
            </a:r>
            <a:endParaRPr lang="en-US" sz="1200" dirty="0"/>
          </a:p>
        </p:txBody>
      </p:sp>
      <p:sp>
        <p:nvSpPr>
          <p:cNvPr id="35" name="Example text"/>
          <p:cNvSpPr txBox="1"/>
          <p:nvPr/>
        </p:nvSpPr>
        <p:spPr>
          <a:xfrm>
            <a:off x="868680" y="5230368"/>
            <a:ext cx="10454335" cy="594360"/>
          </a:xfrm>
          <a:prstGeom prst="rect">
            <a:avLst/>
          </a:prstGeom>
          <a:noFill/>
          <a:ln/>
        </p:spPr>
        <p:txBody>
          <a:bodyPr wrap="square" lIns="0" tIns="0" rIns="0" bIns="0" rtlCol="0" anchor="t"/>
          <a:lstStyle/>
          <a:p>
            <a:pPr indent="0" marL="0">
              <a:buNone/>
            </a:pPr>
            <a:r>
              <a:rPr lang="en-US" sz="1500" dirty="0">
                <a:solidFill>
                  <a:schemeClr val="tx1"/>
                </a:solidFill>
              </a:rPr>
              <a:t>SQL is “not demonstrated”. The student pushes </a:t>
            </a:r>
            <a:pPr indent="0" marL="0">
              <a:buNone/>
            </a:pPr>
            <a:r>
              <a:rPr lang="en-US" sz="1500" b="1" dirty="0">
                <a:solidFill>
                  <a:schemeClr val="tx1"/>
                </a:solidFill>
                <a:latin typeface="Courier New" pitchFamily="34" charset="0"/>
                <a:ea typeface="Courier New" pitchFamily="34" charset="-122"/>
                <a:cs typeface="Courier New" pitchFamily="34" charset="-120"/>
              </a:rPr>
              <a:t>queries/applications.sql</a:t>
            </a:r>
            <a:pPr indent="0" marL="0">
              <a:buNone/>
            </a:pPr>
            <a:r>
              <a:rPr lang="en-US" sz="1500" dirty="0">
                <a:solidFill>
                  <a:schemeClr val="tx1"/>
                </a:solidFill>
              </a:rPr>
              <a:t>. Within about a minute SQL becomes “demonstrated”, citing that file at the new commit.</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B919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03 · ARCHITECTURE</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indent="0" marL="0">
              <a:buNone/>
            </a:pPr>
            <a:r>
              <a:rPr lang="en-US" sz="3200" b="1" dirty="0">
                <a:solidFill>
                  <a:schemeClr val="tx1"/>
                </a:solidFill>
              </a:rPr>
              <a:t>One service, one database, live by default</a:t>
            </a:r>
            <a:endParaRPr lang="en-US" sz="3200" dirty="0"/>
          </a:p>
        </p:txBody>
      </p:sp>
      <p:sp>
        <p:nvSpPr>
          <p:cNvPr id="4" name="Lane 1 title"/>
          <p:cNvSpPr txBox="1"/>
          <p:nvPr/>
        </p:nvSpPr>
        <p:spPr>
          <a:xfrm>
            <a:off x="548640" y="1682496"/>
            <a:ext cx="2602154" cy="256032"/>
          </a:xfrm>
          <a:prstGeom prst="rect">
            <a:avLst/>
          </a:prstGeom>
          <a:noFill/>
          <a:ln/>
        </p:spPr>
        <p:txBody>
          <a:bodyPr wrap="square" lIns="0" tIns="0" rIns="0" bIns="0" rtlCol="0" anchor="t"/>
          <a:lstStyle/>
          <a:p>
            <a:pPr indent="0" marL="0">
              <a:buNone/>
            </a:pPr>
            <a:r>
              <a:rPr lang="en-US" sz="1100" b="1" spc="200" kern="0" dirty="0">
                <a:solidFill>
                  <a:srgbClr val="8B919C"/>
                </a:solidFill>
                <a:latin typeface="Courier New" pitchFamily="34" charset="0"/>
                <a:ea typeface="Courier New" pitchFamily="34" charset="-122"/>
                <a:cs typeface="Courier New" pitchFamily="34" charset="-120"/>
              </a:rPr>
              <a:t>EXTERNAL</a:t>
            </a:r>
            <a:endParaRPr lang="en-US" sz="1100" dirty="0"/>
          </a:p>
        </p:txBody>
      </p:sp>
      <p:sp>
        <p:nvSpPr>
          <p:cNvPr id="5" name="Job posting node"/>
          <p:cNvSpPr/>
          <p:nvPr/>
        </p:nvSpPr>
        <p:spPr>
          <a:xfrm>
            <a:off x="548640" y="1965960"/>
            <a:ext cx="2602154" cy="749808"/>
          </a:xfrm>
          <a:prstGeom prst="roundRect">
            <a:avLst>
              <a:gd name="adj" fmla="val 9756"/>
            </a:avLst>
          </a:prstGeom>
          <a:solidFill>
            <a:schemeClr val="tx2"/>
          </a:solidFill>
          <a:ln w="12700">
            <a:solidFill>
              <a:srgbClr val="2B3448"/>
            </a:solidFill>
            <a:prstDash val="solid"/>
          </a:ln>
        </p:spPr>
      </p:sp>
      <p:sp>
        <p:nvSpPr>
          <p:cNvPr id="6" name="Job posting title"/>
          <p:cNvSpPr txBox="1"/>
          <p:nvPr/>
        </p:nvSpPr>
        <p:spPr>
          <a:xfrm>
            <a:off x="685800" y="2057400"/>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Job posting</a:t>
            </a:r>
            <a:endParaRPr lang="en-US" sz="1300" dirty="0"/>
          </a:p>
        </p:txBody>
      </p:sp>
      <p:sp>
        <p:nvSpPr>
          <p:cNvPr id="7" name="Job posting detail"/>
          <p:cNvSpPr txBox="1"/>
          <p:nvPr/>
        </p:nvSpPr>
        <p:spPr>
          <a:xfrm>
            <a:off x="685800" y="2350008"/>
            <a:ext cx="2327834" cy="292608"/>
          </a:xfrm>
          <a:prstGeom prst="rect">
            <a:avLst/>
          </a:prstGeom>
          <a:noFill/>
          <a:ln/>
        </p:spPr>
        <p:txBody>
          <a:bodyPr wrap="square" lIns="0" tIns="0" rIns="0" bIns="0" rtlCol="0" anchor="t"/>
          <a:lstStyle/>
          <a:p>
            <a:pPr indent="0" marL="0">
              <a:buNone/>
            </a:pPr>
            <a:r>
              <a:rPr lang="en-US" sz="1100" dirty="0">
                <a:solidFill>
                  <a:srgbClr val="C9D0DD"/>
                </a:solidFill>
              </a:rPr>
              <a:t>public URL or pasted text</a:t>
            </a:r>
            <a:endParaRPr lang="en-US" sz="1100" dirty="0"/>
          </a:p>
        </p:txBody>
      </p:sp>
      <p:sp>
        <p:nvSpPr>
          <p:cNvPr id="8" name="GitHub node"/>
          <p:cNvSpPr/>
          <p:nvPr/>
        </p:nvSpPr>
        <p:spPr>
          <a:xfrm>
            <a:off x="548640" y="2862072"/>
            <a:ext cx="2602154" cy="749808"/>
          </a:xfrm>
          <a:prstGeom prst="roundRect">
            <a:avLst>
              <a:gd name="adj" fmla="val 9756"/>
            </a:avLst>
          </a:prstGeom>
          <a:solidFill>
            <a:schemeClr val="tx2"/>
          </a:solidFill>
          <a:ln w="12700">
            <a:solidFill>
              <a:srgbClr val="2B3448"/>
            </a:solidFill>
            <a:prstDash val="solid"/>
          </a:ln>
        </p:spPr>
      </p:sp>
      <p:sp>
        <p:nvSpPr>
          <p:cNvPr id="9" name="GitHub title"/>
          <p:cNvSpPr txBox="1"/>
          <p:nvPr/>
        </p:nvSpPr>
        <p:spPr>
          <a:xfrm>
            <a:off x="685800" y="2953512"/>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GitHub</a:t>
            </a:r>
            <a:endParaRPr lang="en-US" sz="1300" dirty="0"/>
          </a:p>
        </p:txBody>
      </p:sp>
      <p:sp>
        <p:nvSpPr>
          <p:cNvPr id="10" name="GitHub detail"/>
          <p:cNvSpPr txBox="1"/>
          <p:nvPr/>
        </p:nvSpPr>
        <p:spPr>
          <a:xfrm>
            <a:off x="685800" y="3246120"/>
            <a:ext cx="2327834" cy="292608"/>
          </a:xfrm>
          <a:prstGeom prst="rect">
            <a:avLst/>
          </a:prstGeom>
          <a:noFill/>
          <a:ln/>
        </p:spPr>
        <p:txBody>
          <a:bodyPr wrap="square" lIns="0" tIns="0" rIns="0" bIns="0" rtlCol="0" anchor="t"/>
          <a:lstStyle/>
          <a:p>
            <a:pPr indent="0" marL="0">
              <a:buNone/>
            </a:pPr>
            <a:r>
              <a:rPr lang="en-US" sz="1100" dirty="0">
                <a:solidFill>
                  <a:srgbClr val="C9D0DD"/>
                </a:solidFill>
              </a:rPr>
              <a:t>REST API + signed push webhook</a:t>
            </a:r>
            <a:endParaRPr lang="en-US" sz="1100" dirty="0"/>
          </a:p>
        </p:txBody>
      </p:sp>
      <p:sp>
        <p:nvSpPr>
          <p:cNvPr id="11" name="AI provider node"/>
          <p:cNvSpPr/>
          <p:nvPr/>
        </p:nvSpPr>
        <p:spPr>
          <a:xfrm>
            <a:off x="548640" y="3758184"/>
            <a:ext cx="2602154" cy="749808"/>
          </a:xfrm>
          <a:prstGeom prst="roundRect">
            <a:avLst>
              <a:gd name="adj" fmla="val 9756"/>
            </a:avLst>
          </a:prstGeom>
          <a:solidFill>
            <a:schemeClr val="tx2"/>
          </a:solidFill>
          <a:ln w="12700">
            <a:solidFill>
              <a:srgbClr val="2B3448"/>
            </a:solidFill>
            <a:prstDash val="solid"/>
          </a:ln>
        </p:spPr>
      </p:sp>
      <p:sp>
        <p:nvSpPr>
          <p:cNvPr id="12" name="AI provider title"/>
          <p:cNvSpPr txBox="1"/>
          <p:nvPr/>
        </p:nvSpPr>
        <p:spPr>
          <a:xfrm>
            <a:off x="685800" y="3849624"/>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AI provider</a:t>
            </a:r>
            <a:endParaRPr lang="en-US" sz="1300" dirty="0"/>
          </a:p>
        </p:txBody>
      </p:sp>
      <p:sp>
        <p:nvSpPr>
          <p:cNvPr id="13" name="AI provider detail"/>
          <p:cNvSpPr txBox="1"/>
          <p:nvPr/>
        </p:nvSpPr>
        <p:spPr>
          <a:xfrm>
            <a:off x="685800" y="4142232"/>
            <a:ext cx="2327834" cy="292608"/>
          </a:xfrm>
          <a:prstGeom prst="rect">
            <a:avLst/>
          </a:prstGeom>
          <a:noFill/>
          <a:ln/>
        </p:spPr>
        <p:txBody>
          <a:bodyPr wrap="square" lIns="0" tIns="0" rIns="0" bIns="0" rtlCol="0" anchor="t"/>
          <a:lstStyle/>
          <a:p>
            <a:pPr indent="0" marL="0">
              <a:buNone/>
            </a:pPr>
            <a:r>
              <a:rPr lang="en-US" sz="1100" dirty="0">
                <a:solidFill>
                  <a:srgbClr val="C9D0DD"/>
                </a:solidFill>
              </a:rPr>
              <a:t>Groq (default), Gemini, Claude</a:t>
            </a:r>
            <a:endParaRPr lang="en-US" sz="1100" dirty="0"/>
          </a:p>
        </p:txBody>
      </p:sp>
      <p:sp>
        <p:nvSpPr>
          <p:cNvPr id="14" name="Lane 2 title"/>
          <p:cNvSpPr txBox="1"/>
          <p:nvPr/>
        </p:nvSpPr>
        <p:spPr>
          <a:xfrm>
            <a:off x="3379394" y="1682496"/>
            <a:ext cx="2602154" cy="256032"/>
          </a:xfrm>
          <a:prstGeom prst="rect">
            <a:avLst/>
          </a:prstGeom>
          <a:noFill/>
          <a:ln/>
        </p:spPr>
        <p:txBody>
          <a:bodyPr wrap="square" lIns="0" tIns="0" rIns="0" bIns="0" rtlCol="0" anchor="t"/>
          <a:lstStyle/>
          <a:p>
            <a:pPr indent="0" marL="0">
              <a:buNone/>
            </a:pPr>
            <a:r>
              <a:rPr lang="en-US" sz="1100" b="1" spc="200" kern="0" dirty="0">
                <a:solidFill>
                  <a:srgbClr val="8B919C"/>
                </a:solidFill>
                <a:latin typeface="Courier New" pitchFamily="34" charset="0"/>
                <a:ea typeface="Courier New" pitchFamily="34" charset="-122"/>
                <a:cs typeface="Courier New" pitchFamily="34" charset="-120"/>
              </a:rPr>
              <a:t>INGESTION</a:t>
            </a:r>
            <a:endParaRPr lang="en-US" sz="1100" dirty="0"/>
          </a:p>
        </p:txBody>
      </p:sp>
      <p:sp>
        <p:nvSpPr>
          <p:cNvPr id="15" name="Job discovery node"/>
          <p:cNvSpPr/>
          <p:nvPr/>
        </p:nvSpPr>
        <p:spPr>
          <a:xfrm>
            <a:off x="3379394" y="1965960"/>
            <a:ext cx="2602154" cy="749808"/>
          </a:xfrm>
          <a:prstGeom prst="roundRect">
            <a:avLst>
              <a:gd name="adj" fmla="val 9756"/>
            </a:avLst>
          </a:prstGeom>
          <a:solidFill>
            <a:schemeClr val="tx2"/>
          </a:solidFill>
          <a:ln w="12700">
            <a:solidFill>
              <a:srgbClr val="2B3448"/>
            </a:solidFill>
            <a:prstDash val="solid"/>
          </a:ln>
        </p:spPr>
      </p:sp>
      <p:sp>
        <p:nvSpPr>
          <p:cNvPr id="16" name="Job discovery title"/>
          <p:cNvSpPr txBox="1"/>
          <p:nvPr/>
        </p:nvSpPr>
        <p:spPr>
          <a:xfrm>
            <a:off x="3516554" y="2057400"/>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Job discovery</a:t>
            </a:r>
            <a:endParaRPr lang="en-US" sz="1300" dirty="0"/>
          </a:p>
        </p:txBody>
      </p:sp>
      <p:sp>
        <p:nvSpPr>
          <p:cNvPr id="17" name="Job discovery detail"/>
          <p:cNvSpPr txBox="1"/>
          <p:nvPr/>
        </p:nvSpPr>
        <p:spPr>
          <a:xfrm>
            <a:off x="3516554" y="2350008"/>
            <a:ext cx="2327834" cy="292608"/>
          </a:xfrm>
          <a:prstGeom prst="rect">
            <a:avLst/>
          </a:prstGeom>
          <a:noFill/>
          <a:ln/>
        </p:spPr>
        <p:txBody>
          <a:bodyPr wrap="square" lIns="0" tIns="0" rIns="0" bIns="0" rtlCol="0" anchor="t"/>
          <a:lstStyle/>
          <a:p>
            <a:pPr indent="0" marL="0">
              <a:buNone/>
            </a:pPr>
            <a:r>
              <a:rPr lang="en-US" sz="1100" dirty="0">
                <a:solidFill>
                  <a:srgbClr val="C9D0DD"/>
                </a:solidFill>
              </a:rPr>
              <a:t>safe fetch, strip HTML</a:t>
            </a:r>
            <a:endParaRPr lang="en-US" sz="1100" dirty="0"/>
          </a:p>
        </p:txBody>
      </p:sp>
      <p:sp>
        <p:nvSpPr>
          <p:cNvPr id="18" name="Portfolio scanner node"/>
          <p:cNvSpPr/>
          <p:nvPr/>
        </p:nvSpPr>
        <p:spPr>
          <a:xfrm>
            <a:off x="3379394" y="2862072"/>
            <a:ext cx="2602154" cy="749808"/>
          </a:xfrm>
          <a:prstGeom prst="roundRect">
            <a:avLst>
              <a:gd name="adj" fmla="val 9756"/>
            </a:avLst>
          </a:prstGeom>
          <a:solidFill>
            <a:schemeClr val="tx2"/>
          </a:solidFill>
          <a:ln w="12700">
            <a:solidFill>
              <a:srgbClr val="2B3448"/>
            </a:solidFill>
            <a:prstDash val="solid"/>
          </a:ln>
        </p:spPr>
      </p:sp>
      <p:sp>
        <p:nvSpPr>
          <p:cNvPr id="19" name="Portfolio scanner title"/>
          <p:cNvSpPr txBox="1"/>
          <p:nvPr/>
        </p:nvSpPr>
        <p:spPr>
          <a:xfrm>
            <a:off x="3516554" y="2953512"/>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Portfolio scanner</a:t>
            </a:r>
            <a:endParaRPr lang="en-US" sz="1300" dirty="0"/>
          </a:p>
        </p:txBody>
      </p:sp>
      <p:sp>
        <p:nvSpPr>
          <p:cNvPr id="20" name="Portfolio scanner detail"/>
          <p:cNvSpPr txBox="1"/>
          <p:nvPr/>
        </p:nvSpPr>
        <p:spPr>
          <a:xfrm>
            <a:off x="3516554" y="3246120"/>
            <a:ext cx="2327834" cy="292608"/>
          </a:xfrm>
          <a:prstGeom prst="rect">
            <a:avLst/>
          </a:prstGeom>
          <a:noFill/>
          <a:ln/>
        </p:spPr>
        <p:txBody>
          <a:bodyPr wrap="square" lIns="0" tIns="0" rIns="0" bIns="0" rtlCol="0" anchor="t"/>
          <a:lstStyle/>
          <a:p>
            <a:pPr indent="0" marL="0">
              <a:buNone/>
            </a:pPr>
            <a:r>
              <a:rPr lang="en-US" sz="1100" dirty="0">
                <a:solidFill>
                  <a:srgbClr val="C9D0DD"/>
                </a:solidFill>
              </a:rPr>
              <a:t>commit SHA, tree, up to 80 files</a:t>
            </a:r>
            <a:endParaRPr lang="en-US" sz="1100" dirty="0"/>
          </a:p>
        </p:txBody>
      </p:sp>
      <p:sp>
        <p:nvSpPr>
          <p:cNvPr id="21" name="Webhook receiver node"/>
          <p:cNvSpPr/>
          <p:nvPr/>
        </p:nvSpPr>
        <p:spPr>
          <a:xfrm>
            <a:off x="3379394" y="3758184"/>
            <a:ext cx="2602154" cy="749808"/>
          </a:xfrm>
          <a:prstGeom prst="roundRect">
            <a:avLst>
              <a:gd name="adj" fmla="val 9756"/>
            </a:avLst>
          </a:prstGeom>
          <a:solidFill>
            <a:schemeClr val="tx2"/>
          </a:solidFill>
          <a:ln w="25400">
            <a:solidFill>
              <a:schemeClr val="accent6"/>
            </a:solidFill>
            <a:prstDash val="solid"/>
          </a:ln>
        </p:spPr>
      </p:sp>
      <p:sp>
        <p:nvSpPr>
          <p:cNvPr id="22" name="Webhook receiver title"/>
          <p:cNvSpPr txBox="1"/>
          <p:nvPr/>
        </p:nvSpPr>
        <p:spPr>
          <a:xfrm>
            <a:off x="3516554" y="3849624"/>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Webhook receiver</a:t>
            </a:r>
            <a:endParaRPr lang="en-US" sz="1300" dirty="0"/>
          </a:p>
        </p:txBody>
      </p:sp>
      <p:sp>
        <p:nvSpPr>
          <p:cNvPr id="23" name="Webhook receiver detail"/>
          <p:cNvSpPr txBox="1"/>
          <p:nvPr/>
        </p:nvSpPr>
        <p:spPr>
          <a:xfrm>
            <a:off x="3516554" y="4142232"/>
            <a:ext cx="2327834" cy="292608"/>
          </a:xfrm>
          <a:prstGeom prst="rect">
            <a:avLst/>
          </a:prstGeom>
          <a:noFill/>
          <a:ln/>
        </p:spPr>
        <p:txBody>
          <a:bodyPr wrap="square" lIns="0" tIns="0" rIns="0" bIns="0" rtlCol="0" anchor="t"/>
          <a:lstStyle/>
          <a:p>
            <a:pPr indent="0" marL="0">
              <a:buNone/>
            </a:pPr>
            <a:r>
              <a:rPr lang="en-US" sz="1100" dirty="0">
                <a:solidFill>
                  <a:srgbClr val="C9D0DD"/>
                </a:solidFill>
              </a:rPr>
              <a:t>HMAC check, branch filter</a:t>
            </a:r>
            <a:endParaRPr lang="en-US" sz="1100" dirty="0"/>
          </a:p>
        </p:txBody>
      </p:sp>
      <p:sp>
        <p:nvSpPr>
          <p:cNvPr id="24" name="Repository monitor node"/>
          <p:cNvSpPr/>
          <p:nvPr/>
        </p:nvSpPr>
        <p:spPr>
          <a:xfrm>
            <a:off x="3379394" y="4654296"/>
            <a:ext cx="2602154" cy="749808"/>
          </a:xfrm>
          <a:prstGeom prst="roundRect">
            <a:avLst>
              <a:gd name="adj" fmla="val 9756"/>
            </a:avLst>
          </a:prstGeom>
          <a:solidFill>
            <a:schemeClr val="tx2"/>
          </a:solidFill>
          <a:ln w="25400">
            <a:solidFill>
              <a:schemeClr val="accent6"/>
            </a:solidFill>
            <a:prstDash val="solid"/>
          </a:ln>
        </p:spPr>
      </p:sp>
      <p:sp>
        <p:nvSpPr>
          <p:cNvPr id="25" name="Repository monitor title"/>
          <p:cNvSpPr txBox="1"/>
          <p:nvPr/>
        </p:nvSpPr>
        <p:spPr>
          <a:xfrm>
            <a:off x="3516554" y="4745736"/>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Repository monitor</a:t>
            </a:r>
            <a:endParaRPr lang="en-US" sz="1300" dirty="0"/>
          </a:p>
        </p:txBody>
      </p:sp>
      <p:sp>
        <p:nvSpPr>
          <p:cNvPr id="26" name="Repository monitor detail"/>
          <p:cNvSpPr txBox="1"/>
          <p:nvPr/>
        </p:nvSpPr>
        <p:spPr>
          <a:xfrm>
            <a:off x="3516554" y="5038344"/>
            <a:ext cx="2327834" cy="292608"/>
          </a:xfrm>
          <a:prstGeom prst="rect">
            <a:avLst/>
          </a:prstGeom>
          <a:noFill/>
          <a:ln/>
        </p:spPr>
        <p:txBody>
          <a:bodyPr wrap="square" lIns="0" tIns="0" rIns="0" bIns="0" rtlCol="0" anchor="t"/>
          <a:lstStyle/>
          <a:p>
            <a:pPr indent="0" marL="0">
              <a:buNone/>
            </a:pPr>
            <a:r>
              <a:rPr lang="en-US" sz="1100" dirty="0">
                <a:solidFill>
                  <a:srgbClr val="C9D0DD"/>
                </a:solidFill>
              </a:rPr>
              <a:t>head SHA every 60 s</a:t>
            </a:r>
            <a:endParaRPr lang="en-US" sz="1100" dirty="0"/>
          </a:p>
        </p:txBody>
      </p:sp>
      <p:sp>
        <p:nvSpPr>
          <p:cNvPr id="27" name="Lane 3 title"/>
          <p:cNvSpPr txBox="1"/>
          <p:nvPr/>
        </p:nvSpPr>
        <p:spPr>
          <a:xfrm>
            <a:off x="6210148" y="1682496"/>
            <a:ext cx="2602154" cy="256032"/>
          </a:xfrm>
          <a:prstGeom prst="rect">
            <a:avLst/>
          </a:prstGeom>
          <a:noFill/>
          <a:ln/>
        </p:spPr>
        <p:txBody>
          <a:bodyPr wrap="square" lIns="0" tIns="0" rIns="0" bIns="0" rtlCol="0" anchor="t"/>
          <a:lstStyle/>
          <a:p>
            <a:pPr indent="0" marL="0">
              <a:buNone/>
            </a:pPr>
            <a:r>
              <a:rPr lang="en-US" sz="1100" b="1" spc="200" kern="0" dirty="0">
                <a:solidFill>
                  <a:srgbClr val="8B919C"/>
                </a:solidFill>
                <a:latin typeface="Courier New" pitchFamily="34" charset="0"/>
                <a:ea typeface="Courier New" pitchFamily="34" charset="-122"/>
                <a:cs typeface="Courier New" pitchFamily="34" charset="-120"/>
              </a:rPr>
              <a:t>ANALYSIS</a:t>
            </a:r>
            <a:endParaRPr lang="en-US" sz="1100" dirty="0"/>
          </a:p>
        </p:txBody>
      </p:sp>
      <p:sp>
        <p:nvSpPr>
          <p:cNvPr id="28" name="Requirement extractor node"/>
          <p:cNvSpPr/>
          <p:nvPr/>
        </p:nvSpPr>
        <p:spPr>
          <a:xfrm>
            <a:off x="6210148" y="1965960"/>
            <a:ext cx="2602154" cy="749808"/>
          </a:xfrm>
          <a:prstGeom prst="roundRect">
            <a:avLst>
              <a:gd name="adj" fmla="val 9756"/>
            </a:avLst>
          </a:prstGeom>
          <a:solidFill>
            <a:schemeClr val="tx2"/>
          </a:solidFill>
          <a:ln w="12700">
            <a:solidFill>
              <a:srgbClr val="2B3448"/>
            </a:solidFill>
            <a:prstDash val="solid"/>
          </a:ln>
        </p:spPr>
      </p:sp>
      <p:sp>
        <p:nvSpPr>
          <p:cNvPr id="29" name="Requirement extractor title"/>
          <p:cNvSpPr txBox="1"/>
          <p:nvPr/>
        </p:nvSpPr>
        <p:spPr>
          <a:xfrm>
            <a:off x="6347308" y="2057400"/>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Requirement extractor</a:t>
            </a:r>
            <a:endParaRPr lang="en-US" sz="1300" dirty="0"/>
          </a:p>
        </p:txBody>
      </p:sp>
      <p:sp>
        <p:nvSpPr>
          <p:cNvPr id="30" name="Requirement extractor detail"/>
          <p:cNvSpPr txBox="1"/>
          <p:nvPr/>
        </p:nvSpPr>
        <p:spPr>
          <a:xfrm>
            <a:off x="6347308" y="2350008"/>
            <a:ext cx="2327834" cy="292608"/>
          </a:xfrm>
          <a:prstGeom prst="rect">
            <a:avLst/>
          </a:prstGeom>
          <a:noFill/>
          <a:ln/>
        </p:spPr>
        <p:txBody>
          <a:bodyPr wrap="square" lIns="0" tIns="0" rIns="0" bIns="0" rtlCol="0" anchor="t"/>
          <a:lstStyle/>
          <a:p>
            <a:pPr indent="0" marL="0">
              <a:buNone/>
            </a:pPr>
            <a:r>
              <a:rPr lang="en-US" sz="1100" dirty="0">
                <a:solidFill>
                  <a:srgbClr val="C9D0DD"/>
                </a:solidFill>
              </a:rPr>
              <a:t>skills + verbatim quotes</a:t>
            </a:r>
            <a:endParaRPr lang="en-US" sz="1100" dirty="0"/>
          </a:p>
        </p:txBody>
      </p:sp>
      <p:sp>
        <p:nvSpPr>
          <p:cNvPr id="31" name="AI evidence reviewer node"/>
          <p:cNvSpPr/>
          <p:nvPr/>
        </p:nvSpPr>
        <p:spPr>
          <a:xfrm>
            <a:off x="6210148" y="2862072"/>
            <a:ext cx="2602154" cy="749808"/>
          </a:xfrm>
          <a:prstGeom prst="roundRect">
            <a:avLst>
              <a:gd name="adj" fmla="val 9756"/>
            </a:avLst>
          </a:prstGeom>
          <a:solidFill>
            <a:schemeClr val="tx2"/>
          </a:solidFill>
          <a:ln w="12700">
            <a:solidFill>
              <a:srgbClr val="2B3448"/>
            </a:solidFill>
            <a:prstDash val="solid"/>
          </a:ln>
        </p:spPr>
      </p:sp>
      <p:sp>
        <p:nvSpPr>
          <p:cNvPr id="32" name="AI evidence reviewer title"/>
          <p:cNvSpPr txBox="1"/>
          <p:nvPr/>
        </p:nvSpPr>
        <p:spPr>
          <a:xfrm>
            <a:off x="6347308" y="2953512"/>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AI evidence reviewer</a:t>
            </a:r>
            <a:endParaRPr lang="en-US" sz="1300" dirty="0"/>
          </a:p>
        </p:txBody>
      </p:sp>
      <p:sp>
        <p:nvSpPr>
          <p:cNvPr id="33" name="AI evidence reviewer detail"/>
          <p:cNvSpPr txBox="1"/>
          <p:nvPr/>
        </p:nvSpPr>
        <p:spPr>
          <a:xfrm>
            <a:off x="6347308" y="3246120"/>
            <a:ext cx="2327834" cy="292608"/>
          </a:xfrm>
          <a:prstGeom prst="rect">
            <a:avLst/>
          </a:prstGeom>
          <a:noFill/>
          <a:ln/>
        </p:spPr>
        <p:txBody>
          <a:bodyPr wrap="square" lIns="0" tIns="0" rIns="0" bIns="0" rtlCol="0" anchor="t"/>
          <a:lstStyle/>
          <a:p>
            <a:pPr indent="0" marL="0">
              <a:buNone/>
            </a:pPr>
            <a:r>
              <a:rPr lang="en-US" sz="1100" dirty="0">
                <a:solidFill>
                  <a:srgbClr val="C9D0DD"/>
                </a:solidFill>
              </a:rPr>
              <a:t>verdict, confidence, next step</a:t>
            </a:r>
            <a:endParaRPr lang="en-US" sz="1100" dirty="0"/>
          </a:p>
        </p:txBody>
      </p:sp>
      <p:sp>
        <p:nvSpPr>
          <p:cNvPr id="34" name="Guardrails node"/>
          <p:cNvSpPr/>
          <p:nvPr/>
        </p:nvSpPr>
        <p:spPr>
          <a:xfrm>
            <a:off x="6210148" y="3758184"/>
            <a:ext cx="2602154" cy="749808"/>
          </a:xfrm>
          <a:prstGeom prst="roundRect">
            <a:avLst>
              <a:gd name="adj" fmla="val 9756"/>
            </a:avLst>
          </a:prstGeom>
          <a:solidFill>
            <a:schemeClr val="tx2"/>
          </a:solidFill>
          <a:ln w="12700">
            <a:solidFill>
              <a:srgbClr val="2B3448"/>
            </a:solidFill>
            <a:prstDash val="solid"/>
          </a:ln>
        </p:spPr>
      </p:sp>
      <p:sp>
        <p:nvSpPr>
          <p:cNvPr id="35" name="Guardrails title"/>
          <p:cNvSpPr txBox="1"/>
          <p:nvPr/>
        </p:nvSpPr>
        <p:spPr>
          <a:xfrm>
            <a:off x="6347308" y="3849624"/>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Guardrails</a:t>
            </a:r>
            <a:endParaRPr lang="en-US" sz="1300" dirty="0"/>
          </a:p>
        </p:txBody>
      </p:sp>
      <p:sp>
        <p:nvSpPr>
          <p:cNvPr id="36" name="Guardrails detail"/>
          <p:cNvSpPr txBox="1"/>
          <p:nvPr/>
        </p:nvSpPr>
        <p:spPr>
          <a:xfrm>
            <a:off x="6347308" y="4142232"/>
            <a:ext cx="2327834" cy="292608"/>
          </a:xfrm>
          <a:prstGeom prst="rect">
            <a:avLst/>
          </a:prstGeom>
          <a:noFill/>
          <a:ln/>
        </p:spPr>
        <p:txBody>
          <a:bodyPr wrap="square" lIns="0" tIns="0" rIns="0" bIns="0" rtlCol="0" anchor="t"/>
          <a:lstStyle/>
          <a:p>
            <a:pPr indent="0" marL="0">
              <a:buNone/>
            </a:pPr>
            <a:r>
              <a:rPr lang="en-US" sz="1100" dirty="0">
                <a:solidFill>
                  <a:srgbClr val="C9D0DD"/>
                </a:solidFill>
              </a:rPr>
              <a:t>citations must be scanned files</a:t>
            </a:r>
            <a:endParaRPr lang="en-US" sz="1100" dirty="0"/>
          </a:p>
        </p:txBody>
      </p:sp>
      <p:sp>
        <p:nvSpPr>
          <p:cNvPr id="37" name="Reassessment node"/>
          <p:cNvSpPr/>
          <p:nvPr/>
        </p:nvSpPr>
        <p:spPr>
          <a:xfrm>
            <a:off x="6210148" y="4654296"/>
            <a:ext cx="2602154" cy="749808"/>
          </a:xfrm>
          <a:prstGeom prst="roundRect">
            <a:avLst>
              <a:gd name="adj" fmla="val 9756"/>
            </a:avLst>
          </a:prstGeom>
          <a:solidFill>
            <a:schemeClr val="tx2"/>
          </a:solidFill>
          <a:ln w="25400">
            <a:solidFill>
              <a:schemeClr val="accent6"/>
            </a:solidFill>
            <a:prstDash val="solid"/>
          </a:ln>
        </p:spPr>
      </p:sp>
      <p:sp>
        <p:nvSpPr>
          <p:cNvPr id="38" name="Reassessment title"/>
          <p:cNvSpPr txBox="1"/>
          <p:nvPr/>
        </p:nvSpPr>
        <p:spPr>
          <a:xfrm>
            <a:off x="6347308" y="4745736"/>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Reassessment</a:t>
            </a:r>
            <a:endParaRPr lang="en-US" sz="1300" dirty="0"/>
          </a:p>
        </p:txBody>
      </p:sp>
      <p:sp>
        <p:nvSpPr>
          <p:cNvPr id="39" name="Reassessment detail"/>
          <p:cNvSpPr txBox="1"/>
          <p:nvPr/>
        </p:nvSpPr>
        <p:spPr>
          <a:xfrm>
            <a:off x="6347308" y="5038344"/>
            <a:ext cx="2327834" cy="292608"/>
          </a:xfrm>
          <a:prstGeom prst="rect">
            <a:avLst/>
          </a:prstGeom>
          <a:noFill/>
          <a:ln/>
        </p:spPr>
        <p:txBody>
          <a:bodyPr wrap="square" lIns="0" tIns="0" rIns="0" bIns="0" rtlCol="0" anchor="t"/>
          <a:lstStyle/>
          <a:p>
            <a:pPr indent="0" marL="0">
              <a:buNone/>
            </a:pPr>
            <a:r>
              <a:rPr lang="en-US" sz="1100" dirty="0">
                <a:solidFill>
                  <a:srgbClr val="C9D0DD"/>
                </a:solidFill>
              </a:rPr>
              <a:t>rebuild every tracked job</a:t>
            </a:r>
            <a:endParaRPr lang="en-US" sz="1100" dirty="0"/>
          </a:p>
        </p:txBody>
      </p:sp>
      <p:sp>
        <p:nvSpPr>
          <p:cNvPr id="40" name="Lane 4 title"/>
          <p:cNvSpPr txBox="1"/>
          <p:nvPr/>
        </p:nvSpPr>
        <p:spPr>
          <a:xfrm>
            <a:off x="9040901" y="1682496"/>
            <a:ext cx="2602154" cy="256032"/>
          </a:xfrm>
          <a:prstGeom prst="rect">
            <a:avLst/>
          </a:prstGeom>
          <a:noFill/>
          <a:ln/>
        </p:spPr>
        <p:txBody>
          <a:bodyPr wrap="square" lIns="0" tIns="0" rIns="0" bIns="0" rtlCol="0" anchor="t"/>
          <a:lstStyle/>
          <a:p>
            <a:pPr indent="0" marL="0">
              <a:buNone/>
            </a:pPr>
            <a:r>
              <a:rPr lang="en-US" sz="1100" b="1" spc="200" kern="0" dirty="0">
                <a:solidFill>
                  <a:srgbClr val="8B919C"/>
                </a:solidFill>
                <a:latin typeface="Courier New" pitchFamily="34" charset="0"/>
                <a:ea typeface="Courier New" pitchFamily="34" charset="-122"/>
                <a:cs typeface="Courier New" pitchFamily="34" charset="-120"/>
              </a:rPr>
              <a:t>STORAGE &amp; UI</a:t>
            </a:r>
            <a:endParaRPr lang="en-US" sz="1100" dirty="0"/>
          </a:p>
        </p:txBody>
      </p:sp>
      <p:sp>
        <p:nvSpPr>
          <p:cNvPr id="41" name="PostgreSQL node"/>
          <p:cNvSpPr/>
          <p:nvPr/>
        </p:nvSpPr>
        <p:spPr>
          <a:xfrm>
            <a:off x="9040901" y="1965960"/>
            <a:ext cx="2602154" cy="749808"/>
          </a:xfrm>
          <a:prstGeom prst="roundRect">
            <a:avLst>
              <a:gd name="adj" fmla="val 9756"/>
            </a:avLst>
          </a:prstGeom>
          <a:solidFill>
            <a:schemeClr val="tx2"/>
          </a:solidFill>
          <a:ln w="12700">
            <a:solidFill>
              <a:srgbClr val="2B3448"/>
            </a:solidFill>
            <a:prstDash val="solid"/>
          </a:ln>
        </p:spPr>
      </p:sp>
      <p:sp>
        <p:nvSpPr>
          <p:cNvPr id="42" name="PostgreSQL title"/>
          <p:cNvSpPr txBox="1"/>
          <p:nvPr/>
        </p:nvSpPr>
        <p:spPr>
          <a:xfrm>
            <a:off x="9178061" y="2057400"/>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PostgreSQL</a:t>
            </a:r>
            <a:endParaRPr lang="en-US" sz="1300" dirty="0"/>
          </a:p>
        </p:txBody>
      </p:sp>
      <p:sp>
        <p:nvSpPr>
          <p:cNvPr id="43" name="PostgreSQL detail"/>
          <p:cNvSpPr txBox="1"/>
          <p:nvPr/>
        </p:nvSpPr>
        <p:spPr>
          <a:xfrm>
            <a:off x="9178061" y="2350008"/>
            <a:ext cx="2327834" cy="292608"/>
          </a:xfrm>
          <a:prstGeom prst="rect">
            <a:avLst/>
          </a:prstGeom>
          <a:noFill/>
          <a:ln/>
        </p:spPr>
        <p:txBody>
          <a:bodyPr wrap="square" lIns="0" tIns="0" rIns="0" bIns="0" rtlCol="0" anchor="t"/>
          <a:lstStyle/>
          <a:p>
            <a:pPr indent="0" marL="0">
              <a:buNone/>
            </a:pPr>
            <a:r>
              <a:rPr lang="en-US" sz="1100" dirty="0">
                <a:solidFill>
                  <a:srgbClr val="C9D0DD"/>
                </a:solidFill>
              </a:rPr>
              <a:t>jobs, watches, assessments, history</a:t>
            </a:r>
            <a:endParaRPr lang="en-US" sz="1100" dirty="0"/>
          </a:p>
        </p:txBody>
      </p:sp>
      <p:sp>
        <p:nvSpPr>
          <p:cNvPr id="44" name="REST API node"/>
          <p:cNvSpPr/>
          <p:nvPr/>
        </p:nvSpPr>
        <p:spPr>
          <a:xfrm>
            <a:off x="9040901" y="2862072"/>
            <a:ext cx="2602154" cy="749808"/>
          </a:xfrm>
          <a:prstGeom prst="roundRect">
            <a:avLst>
              <a:gd name="adj" fmla="val 9756"/>
            </a:avLst>
          </a:prstGeom>
          <a:solidFill>
            <a:schemeClr val="tx2"/>
          </a:solidFill>
          <a:ln w="12700">
            <a:solidFill>
              <a:srgbClr val="2B3448"/>
            </a:solidFill>
            <a:prstDash val="solid"/>
          </a:ln>
        </p:spPr>
      </p:sp>
      <p:sp>
        <p:nvSpPr>
          <p:cNvPr id="45" name="REST API title"/>
          <p:cNvSpPr txBox="1"/>
          <p:nvPr/>
        </p:nvSpPr>
        <p:spPr>
          <a:xfrm>
            <a:off x="9178061" y="2953512"/>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REST API</a:t>
            </a:r>
            <a:endParaRPr lang="en-US" sz="1300" dirty="0"/>
          </a:p>
        </p:txBody>
      </p:sp>
      <p:sp>
        <p:nvSpPr>
          <p:cNvPr id="46" name="REST API detail"/>
          <p:cNvSpPr txBox="1"/>
          <p:nvPr/>
        </p:nvSpPr>
        <p:spPr>
          <a:xfrm>
            <a:off x="9178061" y="3246120"/>
            <a:ext cx="2327834" cy="292608"/>
          </a:xfrm>
          <a:prstGeom prst="rect">
            <a:avLst/>
          </a:prstGeom>
          <a:noFill/>
          <a:ln/>
        </p:spPr>
        <p:txBody>
          <a:bodyPr wrap="square" lIns="0" tIns="0" rIns="0" bIns="0" rtlCol="0" anchor="t"/>
          <a:lstStyle/>
          <a:p>
            <a:pPr indent="0" marL="0">
              <a:buNone/>
            </a:pPr>
            <a:r>
              <a:rPr lang="en-US" sz="1100" dirty="0">
                <a:solidFill>
                  <a:srgbClr val="C9D0DD"/>
                </a:solidFill>
              </a:rPr>
              <a:t>jobs, assessments, repositories</a:t>
            </a:r>
            <a:endParaRPr lang="en-US" sz="1100" dirty="0"/>
          </a:p>
        </p:txBody>
      </p:sp>
      <p:sp>
        <p:nvSpPr>
          <p:cNvPr id="47" name="React dashboard node"/>
          <p:cNvSpPr/>
          <p:nvPr/>
        </p:nvSpPr>
        <p:spPr>
          <a:xfrm>
            <a:off x="9040901" y="3758184"/>
            <a:ext cx="2602154" cy="749808"/>
          </a:xfrm>
          <a:prstGeom prst="roundRect">
            <a:avLst>
              <a:gd name="adj" fmla="val 9756"/>
            </a:avLst>
          </a:prstGeom>
          <a:solidFill>
            <a:schemeClr val="tx2"/>
          </a:solidFill>
          <a:ln w="25400">
            <a:solidFill>
              <a:schemeClr val="accent6"/>
            </a:solidFill>
            <a:prstDash val="solid"/>
          </a:ln>
        </p:spPr>
      </p:sp>
      <p:sp>
        <p:nvSpPr>
          <p:cNvPr id="48" name="React dashboard title"/>
          <p:cNvSpPr txBox="1"/>
          <p:nvPr/>
        </p:nvSpPr>
        <p:spPr>
          <a:xfrm>
            <a:off x="9178061" y="3849624"/>
            <a:ext cx="2327834" cy="274320"/>
          </a:xfrm>
          <a:prstGeom prst="rect">
            <a:avLst/>
          </a:prstGeom>
          <a:noFill/>
          <a:ln/>
        </p:spPr>
        <p:txBody>
          <a:bodyPr wrap="square" lIns="0" tIns="0" rIns="0" bIns="0" rtlCol="0" anchor="t"/>
          <a:lstStyle/>
          <a:p>
            <a:pPr indent="0" marL="0">
              <a:buNone/>
            </a:pPr>
            <a:r>
              <a:rPr lang="en-US" sz="1300" b="1" dirty="0">
                <a:solidFill>
                  <a:schemeClr val="bg1"/>
                </a:solidFill>
                <a:latin typeface="Arial" pitchFamily="34" charset="0"/>
                <a:ea typeface="Arial" pitchFamily="34" charset="-122"/>
                <a:cs typeface="Arial" pitchFamily="34" charset="-120"/>
              </a:rPr>
              <a:t>React dashboard</a:t>
            </a:r>
            <a:endParaRPr lang="en-US" sz="1300" dirty="0"/>
          </a:p>
        </p:txBody>
      </p:sp>
      <p:sp>
        <p:nvSpPr>
          <p:cNvPr id="49" name="React dashboard detail"/>
          <p:cNvSpPr txBox="1"/>
          <p:nvPr/>
        </p:nvSpPr>
        <p:spPr>
          <a:xfrm>
            <a:off x="9178061" y="4142232"/>
            <a:ext cx="2327834" cy="292608"/>
          </a:xfrm>
          <a:prstGeom prst="rect">
            <a:avLst/>
          </a:prstGeom>
          <a:noFill/>
          <a:ln/>
        </p:spPr>
        <p:txBody>
          <a:bodyPr wrap="square" lIns="0" tIns="0" rIns="0" bIns="0" rtlCol="0" anchor="t"/>
          <a:lstStyle/>
          <a:p>
            <a:pPr indent="0" marL="0">
              <a:buNone/>
            </a:pPr>
            <a:r>
              <a:rPr lang="en-US" sz="1100" dirty="0">
                <a:solidFill>
                  <a:srgbClr val="C9D0DD"/>
                </a:solidFill>
              </a:rPr>
              <a:t>checks status every 4 s</a:t>
            </a:r>
            <a:endParaRPr lang="en-US" sz="1100" dirty="0"/>
          </a:p>
        </p:txBody>
      </p:sp>
      <p:sp>
        <p:nvSpPr>
          <p:cNvPr id="50" name="Live loop strip"/>
          <p:cNvSpPr/>
          <p:nvPr/>
        </p:nvSpPr>
        <p:spPr>
          <a:xfrm>
            <a:off x="548640" y="5650992"/>
            <a:ext cx="11094415" cy="530352"/>
          </a:xfrm>
          <a:prstGeom prst="roundRect">
            <a:avLst>
              <a:gd name="adj" fmla="val 20690"/>
            </a:avLst>
          </a:prstGeom>
          <a:solidFill>
            <a:schemeClr val="bg2"/>
          </a:solidFill>
          <a:ln/>
          <a:effectLst>
            <a:outerShdw sx="100000" sy="100000" kx="0" ky="0" algn="bl" rotWithShape="0" blurRad="101600" dist="25400" dir="5400000">
              <a:srgbClr val="1C2230">
                <a:alpha val="12000"/>
              </a:srgbClr>
            </a:outerShdw>
          </a:effectLst>
        </p:spPr>
      </p:sp>
      <p:sp>
        <p:nvSpPr>
          <p:cNvPr id="51" name="Live loop text"/>
          <p:cNvSpPr txBox="1"/>
          <p:nvPr/>
        </p:nvSpPr>
        <p:spPr>
          <a:xfrm>
            <a:off x="822960" y="5650992"/>
            <a:ext cx="10545775" cy="530352"/>
          </a:xfrm>
          <a:prstGeom prst="rect">
            <a:avLst/>
          </a:prstGeom>
          <a:noFill/>
          <a:ln/>
        </p:spPr>
        <p:txBody>
          <a:bodyPr wrap="square" lIns="0" tIns="0" rIns="0" bIns="0" rtlCol="0" anchor="ctr"/>
          <a:lstStyle/>
          <a:p>
            <a:pPr indent="0" marL="0">
              <a:buNone/>
            </a:pPr>
            <a:r>
              <a:rPr lang="en-US" sz="1400" b="1" dirty="0">
                <a:solidFill>
                  <a:schemeClr val="accent3"/>
                </a:solidFill>
                <a:latin typeface="Courier New" pitchFamily="34" charset="0"/>
                <a:ea typeface="Courier New" pitchFamily="34" charset="-122"/>
                <a:cs typeface="Courier New" pitchFamily="34" charset="-120"/>
              </a:rPr>
              <a:t>LIVE LOOP  </a:t>
            </a:r>
            <a:pPr indent="0" marL="0">
              <a:buNone/>
            </a:pPr>
            <a:r>
              <a:rPr lang="en-US" sz="1400" dirty="0">
                <a:solidFill>
                  <a:schemeClr val="tx1"/>
                </a:solidFill>
              </a:rPr>
              <a:t>git push  →  webhook or 60 s poll  →  scan new SHA  →  AI review + guardrails  →  save version  →  “Improved” on screen</a:t>
            </a:r>
            <a:endParaRPr lang="en-US" sz="1400" dirty="0"/>
          </a:p>
        </p:txBody>
      </p:sp>
      <p:sp>
        <p:nvSpPr>
          <p:cNvPr id="52" name="Legend"/>
          <p:cNvSpPr txBox="1"/>
          <p:nvPr/>
        </p:nvSpPr>
        <p:spPr>
          <a:xfrm>
            <a:off x="6888175" y="1426464"/>
            <a:ext cx="4754880" cy="219456"/>
          </a:xfrm>
          <a:prstGeom prst="rect">
            <a:avLst/>
          </a:prstGeom>
          <a:noFill/>
          <a:ln/>
        </p:spPr>
        <p:txBody>
          <a:bodyPr wrap="square" lIns="0" tIns="0" rIns="0" bIns="0" rtlCol="0" anchor="t"/>
          <a:lstStyle/>
          <a:p>
            <a:pPr algn="r" indent="0" marL="0">
              <a:buNone/>
            </a:pPr>
            <a:r>
              <a:rPr lang="en-US" sz="1000" dirty="0">
                <a:solidFill>
                  <a:srgbClr val="8B919C"/>
                </a:solidFill>
              </a:rPr>
              <a:t>Teal outline = part of the live change-detection path</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B919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04 · JOB REQUIREMENTS</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indent="0" marL="0">
              <a:buNone/>
            </a:pPr>
            <a:r>
              <a:rPr lang="en-US" sz="3200" b="1" dirty="0">
                <a:solidFill>
                  <a:schemeClr val="tx1"/>
                </a:solidFill>
              </a:rPr>
              <a:t>Every requirement quotes the posting</a:t>
            </a:r>
            <a:endParaRPr lang="en-US" sz="3200" dirty="0"/>
          </a:p>
        </p:txBody>
      </p:sp>
      <p:sp>
        <p:nvSpPr>
          <p:cNvPr id="4" name="Extraction 1 circle"/>
          <p:cNvSpPr/>
          <p:nvPr/>
        </p:nvSpPr>
        <p:spPr>
          <a:xfrm>
            <a:off x="548640" y="1691640"/>
            <a:ext cx="420624" cy="420624"/>
          </a:xfrm>
          <a:prstGeom prst="ellipse">
            <a:avLst/>
          </a:prstGeom>
          <a:solidFill>
            <a:schemeClr val="accent1"/>
          </a:solidFill>
          <a:ln w="12700">
            <a:solidFill>
              <a:schemeClr val="accent1"/>
            </a:solidFill>
            <a:prstDash val="solid"/>
          </a:ln>
        </p:spPr>
      </p:sp>
      <p:sp>
        <p:nvSpPr>
          <p:cNvPr id="5" name="Extraction 1 number"/>
          <p:cNvSpPr txBox="1"/>
          <p:nvPr/>
        </p:nvSpPr>
        <p:spPr>
          <a:xfrm>
            <a:off x="548640" y="16916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a:t>
            </a:r>
            <a:endParaRPr lang="en-US" sz="1400" dirty="0"/>
          </a:p>
        </p:txBody>
      </p:sp>
      <p:sp>
        <p:nvSpPr>
          <p:cNvPr id="6" name="Extraction 1 title"/>
          <p:cNvSpPr txBox="1"/>
          <p:nvPr/>
        </p:nvSpPr>
        <p:spPr>
          <a:xfrm>
            <a:off x="1188720" y="1673352"/>
            <a:ext cx="5120640" cy="329184"/>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Fetch safely</a:t>
            </a:r>
            <a:endParaRPr lang="en-US" sz="1700" dirty="0"/>
          </a:p>
        </p:txBody>
      </p:sp>
      <p:sp>
        <p:nvSpPr>
          <p:cNvPr id="7" name="Extraction 1 body"/>
          <p:cNvSpPr txBox="1"/>
          <p:nvPr/>
        </p:nvSpPr>
        <p:spPr>
          <a:xfrm>
            <a:off x="1188720" y="2020824"/>
            <a:ext cx="5120640" cy="658368"/>
          </a:xfrm>
          <a:prstGeom prst="rect">
            <a:avLst/>
          </a:prstGeom>
          <a:noFill/>
          <a:ln/>
        </p:spPr>
        <p:txBody>
          <a:bodyPr wrap="square" lIns="0" tIns="0" rIns="0" bIns="0" rtlCol="0" anchor="t"/>
          <a:lstStyle/>
          <a:p>
            <a:pPr indent="0" marL="0">
              <a:buNone/>
            </a:pPr>
            <a:r>
              <a:rPr lang="en-US" sz="1400" dirty="0">
                <a:solidFill>
                  <a:srgbClr val="5F6675"/>
                </a:solidFill>
              </a:rPr>
              <a:t>10 s timeout, no redirects, private network addresses refused. Pasted text works when a site blocks fetching.</a:t>
            </a:r>
            <a:endParaRPr lang="en-US" sz="1400" dirty="0"/>
          </a:p>
        </p:txBody>
      </p:sp>
      <p:sp>
        <p:nvSpPr>
          <p:cNvPr id="8" name="Extraction 2 circle"/>
          <p:cNvSpPr/>
          <p:nvPr/>
        </p:nvSpPr>
        <p:spPr>
          <a:xfrm>
            <a:off x="548640" y="2770632"/>
            <a:ext cx="420624" cy="420624"/>
          </a:xfrm>
          <a:prstGeom prst="ellipse">
            <a:avLst/>
          </a:prstGeom>
          <a:solidFill>
            <a:schemeClr val="accent1"/>
          </a:solidFill>
          <a:ln w="12700">
            <a:solidFill>
              <a:schemeClr val="accent1"/>
            </a:solidFill>
            <a:prstDash val="solid"/>
          </a:ln>
        </p:spPr>
      </p:sp>
      <p:sp>
        <p:nvSpPr>
          <p:cNvPr id="9" name="Extraction 2 number"/>
          <p:cNvSpPr txBox="1"/>
          <p:nvPr/>
        </p:nvSpPr>
        <p:spPr>
          <a:xfrm>
            <a:off x="548640" y="277063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2</a:t>
            </a:r>
            <a:endParaRPr lang="en-US" sz="1400" dirty="0"/>
          </a:p>
        </p:txBody>
      </p:sp>
      <p:sp>
        <p:nvSpPr>
          <p:cNvPr id="10" name="Extraction 2 title"/>
          <p:cNvSpPr txBox="1"/>
          <p:nvPr/>
        </p:nvSpPr>
        <p:spPr>
          <a:xfrm>
            <a:off x="1188720" y="2752344"/>
            <a:ext cx="5120640" cy="329184"/>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Extract with AI</a:t>
            </a:r>
            <a:endParaRPr lang="en-US" sz="1700" dirty="0"/>
          </a:p>
        </p:txBody>
      </p:sp>
      <p:sp>
        <p:nvSpPr>
          <p:cNvPr id="11" name="Extraction 2 body"/>
          <p:cNvSpPr txBox="1"/>
          <p:nvPr/>
        </p:nvSpPr>
        <p:spPr>
          <a:xfrm>
            <a:off x="1188720" y="3099816"/>
            <a:ext cx="5120640" cy="658368"/>
          </a:xfrm>
          <a:prstGeom prst="rect">
            <a:avLst/>
          </a:prstGeom>
          <a:noFill/>
          <a:ln/>
        </p:spPr>
        <p:txBody>
          <a:bodyPr wrap="square" lIns="0" tIns="0" rIns="0" bIns="0" rtlCol="0" anchor="t"/>
          <a:lstStyle/>
          <a:p>
            <a:pPr indent="0" marL="0">
              <a:buNone/>
            </a:pPr>
            <a:r>
              <a:rPr lang="en-US" sz="1400" dirty="0">
                <a:solidFill>
                  <a:srgbClr val="5F6675"/>
                </a:solidFill>
              </a:rPr>
              <a:t>The AI maps the posting onto the skill taxonomy and marks each skill required or preferred.</a:t>
            </a:r>
            <a:endParaRPr lang="en-US" sz="1400" dirty="0"/>
          </a:p>
        </p:txBody>
      </p:sp>
      <p:sp>
        <p:nvSpPr>
          <p:cNvPr id="12" name="Extraction 3 circle"/>
          <p:cNvSpPr/>
          <p:nvPr/>
        </p:nvSpPr>
        <p:spPr>
          <a:xfrm>
            <a:off x="548640" y="3849624"/>
            <a:ext cx="420624" cy="420624"/>
          </a:xfrm>
          <a:prstGeom prst="ellipse">
            <a:avLst/>
          </a:prstGeom>
          <a:solidFill>
            <a:schemeClr val="accent1"/>
          </a:solidFill>
          <a:ln w="12700">
            <a:solidFill>
              <a:schemeClr val="accent1"/>
            </a:solidFill>
            <a:prstDash val="solid"/>
          </a:ln>
        </p:spPr>
      </p:sp>
      <p:sp>
        <p:nvSpPr>
          <p:cNvPr id="13" name="Extraction 3 number"/>
          <p:cNvSpPr txBox="1"/>
          <p:nvPr/>
        </p:nvSpPr>
        <p:spPr>
          <a:xfrm>
            <a:off x="548640" y="384962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3</a:t>
            </a:r>
            <a:endParaRPr lang="en-US" sz="1400" dirty="0"/>
          </a:p>
        </p:txBody>
      </p:sp>
      <p:sp>
        <p:nvSpPr>
          <p:cNvPr id="14" name="Extraction 3 title"/>
          <p:cNvSpPr txBox="1"/>
          <p:nvPr/>
        </p:nvSpPr>
        <p:spPr>
          <a:xfrm>
            <a:off x="1188720" y="3831336"/>
            <a:ext cx="5120640" cy="329184"/>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Verify every quote</a:t>
            </a:r>
            <a:endParaRPr lang="en-US" sz="1700" dirty="0"/>
          </a:p>
        </p:txBody>
      </p:sp>
      <p:sp>
        <p:nvSpPr>
          <p:cNvPr id="15" name="Extraction 3 body"/>
          <p:cNvSpPr txBox="1"/>
          <p:nvPr/>
        </p:nvSpPr>
        <p:spPr>
          <a:xfrm>
            <a:off x="1188720" y="4178808"/>
            <a:ext cx="5120640" cy="658368"/>
          </a:xfrm>
          <a:prstGeom prst="rect">
            <a:avLst/>
          </a:prstGeom>
          <a:noFill/>
          <a:ln/>
        </p:spPr>
        <p:txBody>
          <a:bodyPr wrap="square" lIns="0" tIns="0" rIns="0" bIns="0" rtlCol="0" anchor="t"/>
          <a:lstStyle/>
          <a:p>
            <a:pPr indent="0" marL="0">
              <a:buNone/>
            </a:pPr>
            <a:r>
              <a:rPr lang="en-US" sz="1400" dirty="0">
                <a:solidFill>
                  <a:srgbClr val="5F6675"/>
                </a:solidFill>
              </a:rPr>
              <a:t>A skill is kept only if its quote appears word for word in the posting.</a:t>
            </a:r>
            <a:endParaRPr lang="en-US" sz="1400" dirty="0"/>
          </a:p>
        </p:txBody>
      </p:sp>
      <p:sp>
        <p:nvSpPr>
          <p:cNvPr id="16" name="Extraction 4 circle"/>
          <p:cNvSpPr/>
          <p:nvPr/>
        </p:nvSpPr>
        <p:spPr>
          <a:xfrm>
            <a:off x="548640" y="4928616"/>
            <a:ext cx="420624" cy="420624"/>
          </a:xfrm>
          <a:prstGeom prst="ellipse">
            <a:avLst/>
          </a:prstGeom>
          <a:solidFill>
            <a:schemeClr val="accent1"/>
          </a:solidFill>
          <a:ln w="12700">
            <a:solidFill>
              <a:schemeClr val="accent1"/>
            </a:solidFill>
            <a:prstDash val="solid"/>
          </a:ln>
        </p:spPr>
      </p:sp>
      <p:sp>
        <p:nvSpPr>
          <p:cNvPr id="17" name="Extraction 4 number"/>
          <p:cNvSpPr txBox="1"/>
          <p:nvPr/>
        </p:nvSpPr>
        <p:spPr>
          <a:xfrm>
            <a:off x="548640" y="492861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4</a:t>
            </a:r>
            <a:endParaRPr lang="en-US" sz="1400" dirty="0"/>
          </a:p>
        </p:txBody>
      </p:sp>
      <p:sp>
        <p:nvSpPr>
          <p:cNvPr id="18" name="Extraction 4 title"/>
          <p:cNvSpPr txBox="1"/>
          <p:nvPr/>
        </p:nvSpPr>
        <p:spPr>
          <a:xfrm>
            <a:off x="1188720" y="4910328"/>
            <a:ext cx="5120640" cy="329184"/>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Student reviews</a:t>
            </a:r>
            <a:endParaRPr lang="en-US" sz="1700" dirty="0"/>
          </a:p>
        </p:txBody>
      </p:sp>
      <p:sp>
        <p:nvSpPr>
          <p:cNvPr id="19" name="Extraction 4 body"/>
          <p:cNvSpPr txBox="1"/>
          <p:nvPr/>
        </p:nvSpPr>
        <p:spPr>
          <a:xfrm>
            <a:off x="1188720" y="5257800"/>
            <a:ext cx="5120640" cy="658368"/>
          </a:xfrm>
          <a:prstGeom prst="rect">
            <a:avLst/>
          </a:prstGeom>
          <a:noFill/>
          <a:ln/>
        </p:spPr>
        <p:txBody>
          <a:bodyPr wrap="square" lIns="0" tIns="0" rIns="0" bIns="0" rtlCol="0" anchor="t"/>
          <a:lstStyle/>
          <a:p>
            <a:pPr indent="0" marL="0">
              <a:buNone/>
            </a:pPr>
            <a:r>
              <a:rPr lang="en-US" sz="1400" dirty="0">
                <a:solidFill>
                  <a:srgbClr val="5F6675"/>
                </a:solidFill>
              </a:rPr>
              <a:t>Skills can be toggled before assessing; the source link is always one click away.</a:t>
            </a:r>
            <a:endParaRPr lang="en-US" sz="1400" dirty="0"/>
          </a:p>
        </p:txBody>
      </p:sp>
      <p:sp>
        <p:nvSpPr>
          <p:cNvPr id="20" name="Saved job card"/>
          <p:cNvSpPr/>
          <p:nvPr/>
        </p:nvSpPr>
        <p:spPr>
          <a:xfrm>
            <a:off x="6720840" y="1691640"/>
            <a:ext cx="4922215" cy="4251960"/>
          </a:xfrm>
          <a:prstGeom prst="roundRect">
            <a:avLst>
              <a:gd name="adj" fmla="val 2581"/>
            </a:avLst>
          </a:prstGeom>
          <a:solidFill>
            <a:schemeClr val="bg2"/>
          </a:solidFill>
          <a:ln/>
          <a:effectLst>
            <a:outerShdw sx="100000" sy="100000" kx="0" ky="0" algn="bl" rotWithShape="0" blurRad="101600" dist="25400" dir="5400000">
              <a:srgbClr val="1C2230">
                <a:alpha val="12000"/>
              </a:srgbClr>
            </a:outerShdw>
          </a:effectLst>
        </p:spPr>
      </p:sp>
      <p:sp>
        <p:nvSpPr>
          <p:cNvPr id="21" name="Saved job label"/>
          <p:cNvSpPr txBox="1"/>
          <p:nvPr/>
        </p:nvSpPr>
        <p:spPr>
          <a:xfrm>
            <a:off x="7040880" y="1892808"/>
            <a:ext cx="4282135" cy="274320"/>
          </a:xfrm>
          <a:prstGeom prst="rect">
            <a:avLst/>
          </a:prstGeom>
          <a:noFill/>
          <a:ln/>
        </p:spPr>
        <p:txBody>
          <a:bodyPr wrap="square" lIns="0" tIns="0" rIns="0" bIns="0" rtlCol="0" anchor="t"/>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REAL EXTRACTION FROM A SAVED JOB</a:t>
            </a:r>
            <a:endParaRPr lang="en-US" sz="1100" dirty="0"/>
          </a:p>
        </p:txBody>
      </p:sp>
      <p:sp>
        <p:nvSpPr>
          <p:cNvPr id="22" name="Saved job title"/>
          <p:cNvSpPr txBox="1"/>
          <p:nvPr/>
        </p:nvSpPr>
        <p:spPr>
          <a:xfrm>
            <a:off x="7040880" y="2212848"/>
            <a:ext cx="4282135" cy="658368"/>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Fresher – Software Development Engineer</a:t>
            </a:r>
            <a:endParaRPr lang="en-US" sz="1800" dirty="0"/>
          </a:p>
        </p:txBody>
      </p:sp>
      <p:sp>
        <p:nvSpPr>
          <p:cNvPr id="23" name="Saved job company"/>
          <p:cNvSpPr txBox="1"/>
          <p:nvPr/>
        </p:nvSpPr>
        <p:spPr>
          <a:xfrm>
            <a:off x="7040880" y="2907792"/>
            <a:ext cx="4282135" cy="292608"/>
          </a:xfrm>
          <a:prstGeom prst="rect">
            <a:avLst/>
          </a:prstGeom>
          <a:noFill/>
          <a:ln/>
        </p:spPr>
        <p:txBody>
          <a:bodyPr wrap="square" lIns="0" tIns="0" rIns="0" bIns="0" rtlCol="0" anchor="t"/>
          <a:lstStyle/>
          <a:p>
            <a:pPr indent="0" marL="0">
              <a:buNone/>
            </a:pPr>
            <a:r>
              <a:rPr lang="en-US" sz="1300" dirty="0">
                <a:solidFill>
                  <a:srgbClr val="5F6675"/>
                </a:solidFill>
              </a:rPr>
              <a:t>Wohlig  ·  read by AI (openai/gpt-oss-120b)</a:t>
            </a:r>
            <a:endParaRPr lang="en-US" sz="1300" dirty="0"/>
          </a:p>
        </p:txBody>
      </p:sp>
      <p:sp>
        <p:nvSpPr>
          <p:cNvPr id="24" name="JAVA quote row"/>
          <p:cNvSpPr/>
          <p:nvPr/>
        </p:nvSpPr>
        <p:spPr>
          <a:xfrm>
            <a:off x="7040880" y="3364992"/>
            <a:ext cx="4282135" cy="658368"/>
          </a:xfrm>
          <a:prstGeom prst="roundRect">
            <a:avLst>
              <a:gd name="adj" fmla="val 11111"/>
            </a:avLst>
          </a:prstGeom>
          <a:solidFill>
            <a:schemeClr val="bg1"/>
          </a:solidFill>
          <a:ln/>
        </p:spPr>
      </p:sp>
      <p:sp>
        <p:nvSpPr>
          <p:cNvPr id="25" name="JAVA chip"/>
          <p:cNvSpPr/>
          <p:nvPr/>
        </p:nvSpPr>
        <p:spPr>
          <a:xfrm>
            <a:off x="7178040" y="3538728"/>
            <a:ext cx="1188720" cy="310896"/>
          </a:xfrm>
          <a:prstGeom prst="roundRect">
            <a:avLst>
              <a:gd name="adj" fmla="val 23529"/>
            </a:avLst>
          </a:prstGeom>
          <a:solidFill>
            <a:schemeClr val="bg2"/>
          </a:solidFill>
          <a:ln/>
        </p:spPr>
      </p:sp>
      <p:sp>
        <p:nvSpPr>
          <p:cNvPr id="26" name="JAVA chip text"/>
          <p:cNvSpPr txBox="1"/>
          <p:nvPr/>
        </p:nvSpPr>
        <p:spPr>
          <a:xfrm>
            <a:off x="7178040" y="3538728"/>
            <a:ext cx="1188720" cy="310896"/>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JAVA</a:t>
            </a:r>
            <a:endParaRPr lang="en-US" sz="1100" dirty="0"/>
          </a:p>
        </p:txBody>
      </p:sp>
      <p:sp>
        <p:nvSpPr>
          <p:cNvPr id="27" name="JAVA quote"/>
          <p:cNvSpPr txBox="1"/>
          <p:nvPr/>
        </p:nvSpPr>
        <p:spPr>
          <a:xfrm>
            <a:off x="8503920" y="3364992"/>
            <a:ext cx="2681935" cy="658368"/>
          </a:xfrm>
          <a:prstGeom prst="rect">
            <a:avLst/>
          </a:prstGeom>
          <a:noFill/>
          <a:ln/>
        </p:spPr>
        <p:txBody>
          <a:bodyPr wrap="square" lIns="0" tIns="0" rIns="0" bIns="0" rtlCol="0" anchor="ctr"/>
          <a:lstStyle/>
          <a:p>
            <a:pPr indent="0" marL="0">
              <a:buNone/>
            </a:pPr>
            <a:r>
              <a:rPr lang="en-US" sz="1500" i="1" dirty="0">
                <a:solidFill>
                  <a:schemeClr val="tx1"/>
                </a:solidFill>
              </a:rPr>
              <a:t>“develop software in Java”</a:t>
            </a:r>
            <a:endParaRPr lang="en-US" sz="1500" dirty="0"/>
          </a:p>
        </p:txBody>
      </p:sp>
      <p:sp>
        <p:nvSpPr>
          <p:cNvPr id="28" name="SQL quote row"/>
          <p:cNvSpPr/>
          <p:nvPr/>
        </p:nvSpPr>
        <p:spPr>
          <a:xfrm>
            <a:off x="7040880" y="4187952"/>
            <a:ext cx="4282135" cy="658368"/>
          </a:xfrm>
          <a:prstGeom prst="roundRect">
            <a:avLst>
              <a:gd name="adj" fmla="val 11111"/>
            </a:avLst>
          </a:prstGeom>
          <a:solidFill>
            <a:schemeClr val="bg1"/>
          </a:solidFill>
          <a:ln/>
        </p:spPr>
      </p:sp>
      <p:sp>
        <p:nvSpPr>
          <p:cNvPr id="29" name="SQL chip"/>
          <p:cNvSpPr/>
          <p:nvPr/>
        </p:nvSpPr>
        <p:spPr>
          <a:xfrm>
            <a:off x="7178040" y="4361688"/>
            <a:ext cx="1188720" cy="310896"/>
          </a:xfrm>
          <a:prstGeom prst="roundRect">
            <a:avLst>
              <a:gd name="adj" fmla="val 23529"/>
            </a:avLst>
          </a:prstGeom>
          <a:solidFill>
            <a:schemeClr val="bg2"/>
          </a:solidFill>
          <a:ln/>
        </p:spPr>
      </p:sp>
      <p:sp>
        <p:nvSpPr>
          <p:cNvPr id="30" name="SQL chip text"/>
          <p:cNvSpPr txBox="1"/>
          <p:nvPr/>
        </p:nvSpPr>
        <p:spPr>
          <a:xfrm>
            <a:off x="7178040" y="4361688"/>
            <a:ext cx="1188720" cy="310896"/>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SQL</a:t>
            </a:r>
            <a:endParaRPr lang="en-US" sz="1100" dirty="0"/>
          </a:p>
        </p:txBody>
      </p:sp>
      <p:sp>
        <p:nvSpPr>
          <p:cNvPr id="31" name="SQL quote"/>
          <p:cNvSpPr txBox="1"/>
          <p:nvPr/>
        </p:nvSpPr>
        <p:spPr>
          <a:xfrm>
            <a:off x="8503920" y="4187952"/>
            <a:ext cx="2681935" cy="658368"/>
          </a:xfrm>
          <a:prstGeom prst="rect">
            <a:avLst/>
          </a:prstGeom>
          <a:noFill/>
          <a:ln/>
        </p:spPr>
        <p:txBody>
          <a:bodyPr wrap="square" lIns="0" tIns="0" rIns="0" bIns="0" rtlCol="0" anchor="ctr"/>
          <a:lstStyle/>
          <a:p>
            <a:pPr indent="0" marL="0">
              <a:buNone/>
            </a:pPr>
            <a:r>
              <a:rPr lang="en-US" sz="1500" i="1" dirty="0">
                <a:solidFill>
                  <a:schemeClr val="tx1"/>
                </a:solidFill>
              </a:rPr>
              <a:t>“SQL”</a:t>
            </a:r>
            <a:endParaRPr lang="en-US" sz="1500" dirty="0"/>
          </a:p>
        </p:txBody>
      </p:sp>
      <p:sp>
        <p:nvSpPr>
          <p:cNvPr id="32" name="TESTING quote row"/>
          <p:cNvSpPr/>
          <p:nvPr/>
        </p:nvSpPr>
        <p:spPr>
          <a:xfrm>
            <a:off x="7040880" y="5010912"/>
            <a:ext cx="4282135" cy="658368"/>
          </a:xfrm>
          <a:prstGeom prst="roundRect">
            <a:avLst>
              <a:gd name="adj" fmla="val 11111"/>
            </a:avLst>
          </a:prstGeom>
          <a:solidFill>
            <a:schemeClr val="bg1"/>
          </a:solidFill>
          <a:ln/>
        </p:spPr>
      </p:sp>
      <p:sp>
        <p:nvSpPr>
          <p:cNvPr id="33" name="TESTING chip"/>
          <p:cNvSpPr/>
          <p:nvPr/>
        </p:nvSpPr>
        <p:spPr>
          <a:xfrm>
            <a:off x="7178040" y="5184648"/>
            <a:ext cx="1188720" cy="310896"/>
          </a:xfrm>
          <a:prstGeom prst="roundRect">
            <a:avLst>
              <a:gd name="adj" fmla="val 23529"/>
            </a:avLst>
          </a:prstGeom>
          <a:solidFill>
            <a:schemeClr val="bg2"/>
          </a:solidFill>
          <a:ln/>
        </p:spPr>
      </p:sp>
      <p:sp>
        <p:nvSpPr>
          <p:cNvPr id="34" name="TESTING chip text"/>
          <p:cNvSpPr txBox="1"/>
          <p:nvPr/>
        </p:nvSpPr>
        <p:spPr>
          <a:xfrm>
            <a:off x="7178040" y="5184648"/>
            <a:ext cx="1188720" cy="310896"/>
          </a:xfrm>
          <a:prstGeom prst="rect">
            <a:avLst/>
          </a:prstGeom>
          <a:noFill/>
          <a:ln/>
        </p:spPr>
        <p:txBody>
          <a:bodyPr wrap="square" lIns="0" tIns="0" rIns="0" bIns="0" rtlCol="0" anchor="ctr"/>
          <a:lstStyle/>
          <a:p>
            <a:pPr algn="ctr" indent="0" marL="0">
              <a:buNone/>
            </a:pPr>
            <a:r>
              <a:rPr lang="en-US" sz="1100" b="1" dirty="0">
                <a:solidFill>
                  <a:schemeClr val="accent1"/>
                </a:solidFill>
                <a:latin typeface="Courier New" pitchFamily="34" charset="0"/>
                <a:ea typeface="Courier New" pitchFamily="34" charset="-122"/>
                <a:cs typeface="Courier New" pitchFamily="34" charset="-120"/>
              </a:rPr>
              <a:t>TESTING</a:t>
            </a:r>
            <a:endParaRPr lang="en-US" sz="1100" dirty="0"/>
          </a:p>
        </p:txBody>
      </p:sp>
      <p:sp>
        <p:nvSpPr>
          <p:cNvPr id="35" name="TESTING quote"/>
          <p:cNvSpPr txBox="1"/>
          <p:nvPr/>
        </p:nvSpPr>
        <p:spPr>
          <a:xfrm>
            <a:off x="8503920" y="5010912"/>
            <a:ext cx="2681935" cy="658368"/>
          </a:xfrm>
          <a:prstGeom prst="rect">
            <a:avLst/>
          </a:prstGeom>
          <a:noFill/>
          <a:ln/>
        </p:spPr>
        <p:txBody>
          <a:bodyPr wrap="square" lIns="0" tIns="0" rIns="0" bIns="0" rtlCol="0" anchor="ctr"/>
          <a:lstStyle/>
          <a:p>
            <a:pPr indent="0" marL="0">
              <a:buNone/>
            </a:pPr>
            <a:r>
              <a:rPr lang="en-US" sz="1500" i="1" dirty="0">
                <a:solidFill>
                  <a:schemeClr val="tx1"/>
                </a:solidFill>
              </a:rPr>
              <a:t>“test-driven development”</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B919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05 · ASSESSMENT</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indent="0" marL="0">
              <a:buNone/>
            </a:pPr>
            <a:r>
              <a:rPr lang="en-US" sz="3200" b="1" dirty="0">
                <a:solidFill>
                  <a:schemeClr val="tx1"/>
                </a:solidFill>
              </a:rPr>
              <a:t>Three verdicts, each backed by cited files</a:t>
            </a:r>
            <a:endParaRPr lang="en-US" sz="3200" dirty="0"/>
          </a:p>
        </p:txBody>
      </p:sp>
      <p:sp>
        <p:nvSpPr>
          <p:cNvPr id="4" name="DEMONSTRATED card"/>
          <p:cNvSpPr/>
          <p:nvPr/>
        </p:nvSpPr>
        <p:spPr>
          <a:xfrm>
            <a:off x="548640" y="1691640"/>
            <a:ext cx="3515258" cy="2743200"/>
          </a:xfrm>
          <a:prstGeom prst="roundRect">
            <a:avLst>
              <a:gd name="adj" fmla="val 4000"/>
            </a:avLst>
          </a:prstGeom>
          <a:solidFill>
            <a:schemeClr val="bg2"/>
          </a:solidFill>
          <a:ln/>
          <a:effectLst>
            <a:outerShdw sx="100000" sy="100000" kx="0" ky="0" algn="bl" rotWithShape="0" blurRad="101600" dist="25400" dir="5400000">
              <a:srgbClr val="1C2230">
                <a:alpha val="12000"/>
              </a:srgbClr>
            </a:outerShdw>
          </a:effectLst>
        </p:spPr>
      </p:sp>
      <p:sp>
        <p:nvSpPr>
          <p:cNvPr id="5" name="DEMONSTRATED status"/>
          <p:cNvSpPr txBox="1"/>
          <p:nvPr/>
        </p:nvSpPr>
        <p:spPr>
          <a:xfrm>
            <a:off x="822960" y="1920240"/>
            <a:ext cx="2966618" cy="347472"/>
          </a:xfrm>
          <a:prstGeom prst="rect">
            <a:avLst/>
          </a:prstGeom>
          <a:noFill/>
          <a:ln/>
        </p:spPr>
        <p:txBody>
          <a:bodyPr wrap="square" lIns="0" tIns="0" rIns="0" bIns="0" rtlCol="0" anchor="t"/>
          <a:lstStyle/>
          <a:p>
            <a:pPr indent="0" marL="0">
              <a:buNone/>
            </a:pPr>
            <a:r>
              <a:rPr lang="en-US" sz="1600" b="1" dirty="0">
                <a:solidFill>
                  <a:schemeClr val="accent3"/>
                </a:solidFill>
                <a:latin typeface="Courier New" pitchFamily="34" charset="0"/>
                <a:ea typeface="Courier New" pitchFamily="34" charset="-122"/>
                <a:cs typeface="Courier New" pitchFamily="34" charset="-120"/>
              </a:rPr>
              <a:t>DEMONSTRATED</a:t>
            </a:r>
            <a:endParaRPr lang="en-US" sz="1600" dirty="0"/>
          </a:p>
        </p:txBody>
      </p:sp>
      <p:sp>
        <p:nvSpPr>
          <p:cNvPr id="6" name="DEMONSTRATED meaning"/>
          <p:cNvSpPr txBox="1"/>
          <p:nvPr/>
        </p:nvSpPr>
        <p:spPr>
          <a:xfrm>
            <a:off x="822960" y="2377440"/>
            <a:ext cx="2966618" cy="777240"/>
          </a:xfrm>
          <a:prstGeom prst="rect">
            <a:avLst/>
          </a:prstGeom>
          <a:noFill/>
          <a:ln/>
        </p:spPr>
        <p:txBody>
          <a:bodyPr wrap="square" lIns="0" tIns="0" rIns="0" bIns="0" rtlCol="0" anchor="t"/>
          <a:lstStyle/>
          <a:p>
            <a:pPr indent="0" marL="0">
              <a:buNone/>
            </a:pPr>
            <a:r>
              <a:rPr lang="en-US" sz="1600" b="1" dirty="0">
                <a:solidFill>
                  <a:schemeClr val="tx1"/>
                </a:solidFill>
              </a:rPr>
              <a:t>The code really implements or meaningfully uses the skill.</a:t>
            </a:r>
            <a:endParaRPr lang="en-US" sz="1600" dirty="0"/>
          </a:p>
        </p:txBody>
      </p:sp>
      <p:sp>
        <p:nvSpPr>
          <p:cNvPr id="7" name="DEMONSTRATED example"/>
          <p:cNvSpPr txBox="1"/>
          <p:nvPr/>
        </p:nvSpPr>
        <p:spPr>
          <a:xfrm>
            <a:off x="822960" y="3200400"/>
            <a:ext cx="2966618" cy="1097280"/>
          </a:xfrm>
          <a:prstGeom prst="rect">
            <a:avLst/>
          </a:prstGeom>
          <a:noFill/>
          <a:ln/>
        </p:spPr>
        <p:txBody>
          <a:bodyPr wrap="square" lIns="0" tIns="0" rIns="0" bIns="0" rtlCol="0" anchor="t"/>
          <a:lstStyle/>
          <a:p>
            <a:pPr indent="0" marL="0">
              <a:buNone/>
            </a:pPr>
            <a:r>
              <a:rPr lang="en-US" sz="1400" dirty="0">
                <a:solidFill>
                  <a:srgbClr val="5F6675"/>
                </a:solidFill>
              </a:rPr>
              <a:t>A repository method running SELECT … WHERE; a working REST controller.</a:t>
            </a:r>
            <a:endParaRPr lang="en-US" sz="1400" dirty="0"/>
          </a:p>
        </p:txBody>
      </p:sp>
      <p:sp>
        <p:nvSpPr>
          <p:cNvPr id="8" name="PARTIAL card"/>
          <p:cNvSpPr/>
          <p:nvPr/>
        </p:nvSpPr>
        <p:spPr>
          <a:xfrm>
            <a:off x="4338218" y="1691640"/>
            <a:ext cx="3515258" cy="2743200"/>
          </a:xfrm>
          <a:prstGeom prst="roundRect">
            <a:avLst>
              <a:gd name="adj" fmla="val 4000"/>
            </a:avLst>
          </a:prstGeom>
          <a:solidFill>
            <a:schemeClr val="bg2"/>
          </a:solidFill>
          <a:ln/>
          <a:effectLst>
            <a:outerShdw sx="100000" sy="100000" kx="0" ky="0" algn="bl" rotWithShape="0" blurRad="101600" dist="25400" dir="5400000">
              <a:srgbClr val="1C2230">
                <a:alpha val="12000"/>
              </a:srgbClr>
            </a:outerShdw>
          </a:effectLst>
        </p:spPr>
      </p:sp>
      <p:sp>
        <p:nvSpPr>
          <p:cNvPr id="9" name="PARTIAL status"/>
          <p:cNvSpPr txBox="1"/>
          <p:nvPr/>
        </p:nvSpPr>
        <p:spPr>
          <a:xfrm>
            <a:off x="4612538" y="1920240"/>
            <a:ext cx="2966618" cy="347472"/>
          </a:xfrm>
          <a:prstGeom prst="rect">
            <a:avLst/>
          </a:prstGeom>
          <a:noFill/>
          <a:ln/>
        </p:spPr>
        <p:txBody>
          <a:bodyPr wrap="square" lIns="0" tIns="0" rIns="0" bIns="0" rtlCol="0" anchor="t"/>
          <a:lstStyle/>
          <a:p>
            <a:pPr indent="0" marL="0">
              <a:buNone/>
            </a:pPr>
            <a:r>
              <a:rPr lang="en-US" sz="1600" b="1" dirty="0">
                <a:solidFill>
                  <a:schemeClr val="accent4"/>
                </a:solidFill>
                <a:latin typeface="Courier New" pitchFamily="34" charset="0"/>
                <a:ea typeface="Courier New" pitchFamily="34" charset="-122"/>
                <a:cs typeface="Courier New" pitchFamily="34" charset="-120"/>
              </a:rPr>
              <a:t>PARTIAL</a:t>
            </a:r>
            <a:endParaRPr lang="en-US" sz="1600" dirty="0"/>
          </a:p>
        </p:txBody>
      </p:sp>
      <p:sp>
        <p:nvSpPr>
          <p:cNvPr id="10" name="PARTIAL meaning"/>
          <p:cNvSpPr txBox="1"/>
          <p:nvPr/>
        </p:nvSpPr>
        <p:spPr>
          <a:xfrm>
            <a:off x="4612538" y="2377440"/>
            <a:ext cx="2966618" cy="777240"/>
          </a:xfrm>
          <a:prstGeom prst="rect">
            <a:avLst/>
          </a:prstGeom>
          <a:noFill/>
          <a:ln/>
        </p:spPr>
        <p:txBody>
          <a:bodyPr wrap="square" lIns="0" tIns="0" rIns="0" bIns="0" rtlCol="0" anchor="t"/>
          <a:lstStyle/>
          <a:p>
            <a:pPr indent="0" marL="0">
              <a:buNone/>
            </a:pPr>
            <a:r>
              <a:rPr lang="en-US" sz="1600" b="1" dirty="0">
                <a:solidFill>
                  <a:schemeClr val="tx1"/>
                </a:solidFill>
              </a:rPr>
              <a:t>A real but thin signal.</a:t>
            </a:r>
            <a:endParaRPr lang="en-US" sz="1600" dirty="0"/>
          </a:p>
        </p:txBody>
      </p:sp>
      <p:sp>
        <p:nvSpPr>
          <p:cNvPr id="11" name="PARTIAL example"/>
          <p:cNvSpPr txBox="1"/>
          <p:nvPr/>
        </p:nvSpPr>
        <p:spPr>
          <a:xfrm>
            <a:off x="4612538" y="3200400"/>
            <a:ext cx="2966618" cy="1097280"/>
          </a:xfrm>
          <a:prstGeom prst="rect">
            <a:avLst/>
          </a:prstGeom>
          <a:noFill/>
          <a:ln/>
        </p:spPr>
        <p:txBody>
          <a:bodyPr wrap="square" lIns="0" tIns="0" rIns="0" bIns="0" rtlCol="0" anchor="t"/>
          <a:lstStyle/>
          <a:p>
            <a:pPr indent="0" marL="0">
              <a:buNone/>
            </a:pPr>
            <a:r>
              <a:rPr lang="en-US" sz="1400" dirty="0">
                <a:solidFill>
                  <a:srgbClr val="5F6675"/>
                </a:solidFill>
              </a:rPr>
              <a:t>Only configuration or boilerplate, or a positive verdict that cited no scanned file.</a:t>
            </a:r>
            <a:endParaRPr lang="en-US" sz="1400" dirty="0"/>
          </a:p>
        </p:txBody>
      </p:sp>
      <p:sp>
        <p:nvSpPr>
          <p:cNvPr id="12" name="NOT DEMONSTRATED card"/>
          <p:cNvSpPr/>
          <p:nvPr/>
        </p:nvSpPr>
        <p:spPr>
          <a:xfrm>
            <a:off x="8127797" y="1691640"/>
            <a:ext cx="3515258" cy="2743200"/>
          </a:xfrm>
          <a:prstGeom prst="roundRect">
            <a:avLst>
              <a:gd name="adj" fmla="val 4000"/>
            </a:avLst>
          </a:prstGeom>
          <a:solidFill>
            <a:schemeClr val="bg2"/>
          </a:solidFill>
          <a:ln/>
          <a:effectLst>
            <a:outerShdw sx="100000" sy="100000" kx="0" ky="0" algn="bl" rotWithShape="0" blurRad="101600" dist="25400" dir="5400000">
              <a:srgbClr val="1C2230">
                <a:alpha val="12000"/>
              </a:srgbClr>
            </a:outerShdw>
          </a:effectLst>
        </p:spPr>
      </p:sp>
      <p:sp>
        <p:nvSpPr>
          <p:cNvPr id="13" name="NOT DEMONSTRATED status"/>
          <p:cNvSpPr txBox="1"/>
          <p:nvPr/>
        </p:nvSpPr>
        <p:spPr>
          <a:xfrm>
            <a:off x="8402117" y="1920240"/>
            <a:ext cx="2966618" cy="347472"/>
          </a:xfrm>
          <a:prstGeom prst="rect">
            <a:avLst/>
          </a:prstGeom>
          <a:noFill/>
          <a:ln/>
        </p:spPr>
        <p:txBody>
          <a:bodyPr wrap="square" lIns="0" tIns="0" rIns="0" bIns="0" rtlCol="0" anchor="t"/>
          <a:lstStyle/>
          <a:p>
            <a:pPr indent="0" marL="0">
              <a:buNone/>
            </a:pPr>
            <a:r>
              <a:rPr lang="en-US" sz="1600" b="1" dirty="0">
                <a:solidFill>
                  <a:schemeClr val="accent5"/>
                </a:solidFill>
                <a:latin typeface="Courier New" pitchFamily="34" charset="0"/>
                <a:ea typeface="Courier New" pitchFamily="34" charset="-122"/>
                <a:cs typeface="Courier New" pitchFamily="34" charset="-120"/>
              </a:rPr>
              <a:t>NOT DEMONSTRATED</a:t>
            </a:r>
            <a:endParaRPr lang="en-US" sz="1600" dirty="0"/>
          </a:p>
        </p:txBody>
      </p:sp>
      <p:sp>
        <p:nvSpPr>
          <p:cNvPr id="14" name="NOT DEMONSTRATED meaning"/>
          <p:cNvSpPr txBox="1"/>
          <p:nvPr/>
        </p:nvSpPr>
        <p:spPr>
          <a:xfrm>
            <a:off x="8402117" y="2377440"/>
            <a:ext cx="2966618" cy="777240"/>
          </a:xfrm>
          <a:prstGeom prst="rect">
            <a:avLst/>
          </a:prstGeom>
          <a:noFill/>
          <a:ln/>
        </p:spPr>
        <p:txBody>
          <a:bodyPr wrap="square" lIns="0" tIns="0" rIns="0" bIns="0" rtlCol="0" anchor="t"/>
          <a:lstStyle/>
          <a:p>
            <a:pPr indent="0" marL="0">
              <a:buNone/>
            </a:pPr>
            <a:r>
              <a:rPr lang="en-US" sz="1600" b="1" dirty="0">
                <a:solidFill>
                  <a:schemeClr val="tx1"/>
                </a:solidFill>
              </a:rPr>
              <a:t>Nothing in this scan shows real use.</a:t>
            </a:r>
            <a:endParaRPr lang="en-US" sz="1600" dirty="0"/>
          </a:p>
        </p:txBody>
      </p:sp>
      <p:sp>
        <p:nvSpPr>
          <p:cNvPr id="15" name="NOT DEMONSTRATED example"/>
          <p:cNvSpPr txBox="1"/>
          <p:nvPr/>
        </p:nvSpPr>
        <p:spPr>
          <a:xfrm>
            <a:off x="8402117" y="3200400"/>
            <a:ext cx="2966618" cy="1097280"/>
          </a:xfrm>
          <a:prstGeom prst="rect">
            <a:avLst/>
          </a:prstGeom>
          <a:noFill/>
          <a:ln/>
        </p:spPr>
        <p:txBody>
          <a:bodyPr wrap="square" lIns="0" tIns="0" rIns="0" bIns="0" rtlCol="0" anchor="t"/>
          <a:lstStyle/>
          <a:p>
            <a:pPr indent="0" marL="0">
              <a:buNone/>
            </a:pPr>
            <a:r>
              <a:rPr lang="en-US" sz="1400" dirty="0">
                <a:solidFill>
                  <a:srgbClr val="5F6675"/>
                </a:solidFill>
              </a:rPr>
              <a:t>No candidate file, or only keyword false positives. Never “lacks the skill”.</a:t>
            </a:r>
            <a:endParaRPr lang="en-US" sz="1400" dirty="0"/>
          </a:p>
        </p:txBody>
      </p:sp>
      <p:sp>
        <p:nvSpPr>
          <p:cNvPr id="16" name="Readiness card"/>
          <p:cNvSpPr/>
          <p:nvPr/>
        </p:nvSpPr>
        <p:spPr>
          <a:xfrm>
            <a:off x="548640" y="4709160"/>
            <a:ext cx="11094415" cy="1280160"/>
          </a:xfrm>
          <a:prstGeom prst="roundRect">
            <a:avLst>
              <a:gd name="adj" fmla="val 8571"/>
            </a:avLst>
          </a:prstGeom>
          <a:solidFill>
            <a:schemeClr val="tx2"/>
          </a:solidFill>
          <a:ln/>
          <a:effectLst>
            <a:outerShdw sx="100000" sy="100000" kx="0" ky="0" algn="bl" rotWithShape="0" blurRad="101600" dist="25400" dir="5400000">
              <a:srgbClr val="1C2230">
                <a:alpha val="12000"/>
              </a:srgbClr>
            </a:outerShdw>
          </a:effectLst>
        </p:spPr>
      </p:sp>
      <p:sp>
        <p:nvSpPr>
          <p:cNvPr id="17" name="Readiness number"/>
          <p:cNvSpPr txBox="1"/>
          <p:nvPr/>
        </p:nvSpPr>
        <p:spPr>
          <a:xfrm>
            <a:off x="868680" y="4709160"/>
            <a:ext cx="1737360" cy="1280160"/>
          </a:xfrm>
          <a:prstGeom prst="rect">
            <a:avLst/>
          </a:prstGeom>
          <a:noFill/>
          <a:ln/>
        </p:spPr>
        <p:txBody>
          <a:bodyPr wrap="square" lIns="0" tIns="0" rIns="0" bIns="0" rtlCol="0" anchor="ctr"/>
          <a:lstStyle/>
          <a:p>
            <a:pPr indent="0" marL="0">
              <a:buNone/>
            </a:pPr>
            <a:r>
              <a:rPr lang="en-US" sz="4800" b="1" dirty="0">
                <a:solidFill>
                  <a:schemeClr val="accent6"/>
                </a:solidFill>
                <a:latin typeface="Arial" pitchFamily="34" charset="0"/>
                <a:ea typeface="Arial" pitchFamily="34" charset="-122"/>
                <a:cs typeface="Arial" pitchFamily="34" charset="-120"/>
              </a:rPr>
              <a:t>80%</a:t>
            </a:r>
            <a:endParaRPr lang="en-US" sz="4800" dirty="0"/>
          </a:p>
        </p:txBody>
      </p:sp>
      <p:sp>
        <p:nvSpPr>
          <p:cNvPr id="18" name="Readiness explanation"/>
          <p:cNvSpPr txBox="1"/>
          <p:nvPr/>
        </p:nvSpPr>
        <p:spPr>
          <a:xfrm>
            <a:off x="2743200" y="4709160"/>
            <a:ext cx="8579815" cy="1280160"/>
          </a:xfrm>
          <a:prstGeom prst="rect">
            <a:avLst/>
          </a:prstGeom>
          <a:noFill/>
          <a:ln/>
        </p:spPr>
        <p:txBody>
          <a:bodyPr wrap="square" lIns="0" tIns="0" rIns="0" bIns="0" rtlCol="0" anchor="ctr"/>
          <a:lstStyle/>
          <a:p>
            <a:pPr indent="0" marL="0">
              <a:buNone/>
            </a:pPr>
            <a:r>
              <a:rPr lang="en-US" sz="1500" b="1" dirty="0">
                <a:solidFill>
                  <a:schemeClr val="bg1"/>
                </a:solidFill>
              </a:rPr>
              <a:t>Role readiness = (demonstrated + ½ × partial) ÷ required skills</a:t>
            </a:r>
            <a:endParaRPr lang="en-US" sz="1500" dirty="0"/>
          </a:p>
          <a:p>
            <a:pPr indent="0" marL="0">
              <a:buNone/>
            </a:pPr>
            <a:r>
              <a:rPr lang="en-US" sz="1500" dirty="0">
                <a:solidFill>
                  <a:srgbClr val="C9D0DD"/>
                </a:solidFill>
              </a:rPr>
              <a:t>Example scan of deven065/bmg-interiors: 4 demonstrated, 1 not shown yet. Each skill also shows HIGH, MEDIUM or LOW confidence.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B919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06 · TRUST</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indent="0" marL="0">
              <a:buNone/>
            </a:pPr>
            <a:r>
              <a:rPr lang="en-US" sz="3200" b="1" dirty="0">
                <a:solidFill>
                  <a:schemeClr val="tx1"/>
                </a:solidFill>
              </a:rPr>
              <a:t>Guardrails stop invented evidence</a:t>
            </a:r>
            <a:endParaRPr lang="en-US" sz="3200" dirty="0"/>
          </a:p>
        </p:txBody>
      </p:sp>
      <p:sp>
        <p:nvSpPr>
          <p:cNvPr id="4" name="Guardrail 1 row"/>
          <p:cNvSpPr/>
          <p:nvPr/>
        </p:nvSpPr>
        <p:spPr>
          <a:xfrm>
            <a:off x="548640" y="1691640"/>
            <a:ext cx="11094415" cy="713232"/>
          </a:xfrm>
          <a:prstGeom prst="roundRect">
            <a:avLst>
              <a:gd name="adj" fmla="val 15385"/>
            </a:avLst>
          </a:prstGeom>
          <a:solidFill>
            <a:schemeClr val="bg2"/>
          </a:solidFill>
          <a:ln/>
          <a:effectLst>
            <a:outerShdw sx="100000" sy="100000" kx="0" ky="0" algn="bl" rotWithShape="0" blurRad="101600" dist="25400" dir="5400000">
              <a:srgbClr val="1C2230">
                <a:alpha val="12000"/>
              </a:srgbClr>
            </a:outerShdw>
          </a:effectLst>
        </p:spPr>
      </p:sp>
      <p:sp>
        <p:nvSpPr>
          <p:cNvPr id="5" name="Guardrail 1 circle"/>
          <p:cNvSpPr/>
          <p:nvPr/>
        </p:nvSpPr>
        <p:spPr>
          <a:xfrm>
            <a:off x="777240" y="1837944"/>
            <a:ext cx="420624" cy="420624"/>
          </a:xfrm>
          <a:prstGeom prst="ellipse">
            <a:avLst/>
          </a:prstGeom>
          <a:solidFill>
            <a:schemeClr val="accent5"/>
          </a:solidFill>
          <a:ln w="12700">
            <a:solidFill>
              <a:schemeClr val="accent5"/>
            </a:solidFill>
            <a:prstDash val="solid"/>
          </a:ln>
        </p:spPr>
      </p:sp>
      <p:sp>
        <p:nvSpPr>
          <p:cNvPr id="6" name="Guardrail 1 number"/>
          <p:cNvSpPr txBox="1"/>
          <p:nvPr/>
        </p:nvSpPr>
        <p:spPr>
          <a:xfrm>
            <a:off x="777240" y="183794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a:t>
            </a:r>
            <a:endParaRPr lang="en-US" sz="1400" dirty="0"/>
          </a:p>
        </p:txBody>
      </p:sp>
      <p:sp>
        <p:nvSpPr>
          <p:cNvPr id="7" name="Guardrail 1 situation"/>
          <p:cNvSpPr txBox="1"/>
          <p:nvPr/>
        </p:nvSpPr>
        <p:spPr>
          <a:xfrm>
            <a:off x="1417320" y="1691640"/>
            <a:ext cx="4754880" cy="713232"/>
          </a:xfrm>
          <a:prstGeom prst="rect">
            <a:avLst/>
          </a:prstGeom>
          <a:noFill/>
          <a:ln/>
        </p:spPr>
        <p:txBody>
          <a:bodyPr wrap="square" lIns="0" tIns="0" rIns="0" bIns="0" rtlCol="0" anchor="ctr"/>
          <a:lstStyle/>
          <a:p>
            <a:pPr indent="0" marL="0">
              <a:buNone/>
            </a:pPr>
            <a:r>
              <a:rPr lang="en-US" sz="1600" b="1" dirty="0">
                <a:solidFill>
                  <a:schemeClr val="tx1"/>
                </a:solidFill>
              </a:rPr>
              <a:t>No candidate file for a skill</a:t>
            </a:r>
            <a:endParaRPr lang="en-US" sz="1600" dirty="0"/>
          </a:p>
        </p:txBody>
      </p:sp>
      <p:sp>
        <p:nvSpPr>
          <p:cNvPr id="8" name="Guardrail 1 arrow"/>
          <p:cNvSpPr txBox="1"/>
          <p:nvPr/>
        </p:nvSpPr>
        <p:spPr>
          <a:xfrm>
            <a:off x="6217920" y="1691640"/>
            <a:ext cx="457200" cy="713232"/>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9" name="Guardrail 1 rule"/>
          <p:cNvSpPr txBox="1"/>
          <p:nvPr/>
        </p:nvSpPr>
        <p:spPr>
          <a:xfrm>
            <a:off x="6766560" y="1691640"/>
            <a:ext cx="4647895" cy="713232"/>
          </a:xfrm>
          <a:prstGeom prst="rect">
            <a:avLst/>
          </a:prstGeom>
          <a:noFill/>
          <a:ln/>
        </p:spPr>
        <p:txBody>
          <a:bodyPr wrap="square" lIns="0" tIns="0" rIns="0" bIns="0" rtlCol="0" anchor="ctr"/>
          <a:lstStyle/>
          <a:p>
            <a:pPr indent="0" marL="0">
              <a:buNone/>
            </a:pPr>
            <a:r>
              <a:rPr lang="en-US" sz="1500" dirty="0">
                <a:solidFill>
                  <a:srgbClr val="5F6675"/>
                </a:solidFill>
              </a:rPr>
              <a:t>Always NOT DEMONSTRATED, whatever the model says</a:t>
            </a:r>
            <a:endParaRPr lang="en-US" sz="1500" dirty="0"/>
          </a:p>
        </p:txBody>
      </p:sp>
      <p:sp>
        <p:nvSpPr>
          <p:cNvPr id="10" name="Guardrail 2 row"/>
          <p:cNvSpPr/>
          <p:nvPr/>
        </p:nvSpPr>
        <p:spPr>
          <a:xfrm>
            <a:off x="548640" y="2560320"/>
            <a:ext cx="11094415" cy="713232"/>
          </a:xfrm>
          <a:prstGeom prst="roundRect">
            <a:avLst>
              <a:gd name="adj" fmla="val 15385"/>
            </a:avLst>
          </a:prstGeom>
          <a:solidFill>
            <a:schemeClr val="bg1"/>
          </a:solidFill>
          <a:ln w="15875">
            <a:solidFill>
              <a:srgbClr val="D9DCE2"/>
            </a:solidFill>
            <a:prstDash val="solid"/>
          </a:ln>
          <a:effectLst>
            <a:outerShdw sx="100000" sy="100000" kx="0" ky="0" algn="bl" rotWithShape="0" blurRad="101600" dist="25400" dir="5400000">
              <a:srgbClr val="1C2230">
                <a:alpha val="12000"/>
              </a:srgbClr>
            </a:outerShdw>
          </a:effectLst>
        </p:spPr>
      </p:sp>
      <p:sp>
        <p:nvSpPr>
          <p:cNvPr id="11" name="Guardrail 2 circle"/>
          <p:cNvSpPr/>
          <p:nvPr/>
        </p:nvSpPr>
        <p:spPr>
          <a:xfrm>
            <a:off x="777240" y="2706624"/>
            <a:ext cx="420624" cy="420624"/>
          </a:xfrm>
          <a:prstGeom prst="ellipse">
            <a:avLst/>
          </a:prstGeom>
          <a:solidFill>
            <a:schemeClr val="accent4"/>
          </a:solidFill>
          <a:ln w="12700">
            <a:solidFill>
              <a:schemeClr val="accent4"/>
            </a:solidFill>
            <a:prstDash val="solid"/>
          </a:ln>
        </p:spPr>
      </p:sp>
      <p:sp>
        <p:nvSpPr>
          <p:cNvPr id="12" name="Guardrail 2 number"/>
          <p:cNvSpPr txBox="1"/>
          <p:nvPr/>
        </p:nvSpPr>
        <p:spPr>
          <a:xfrm>
            <a:off x="777240" y="270662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2</a:t>
            </a:r>
            <a:endParaRPr lang="en-US" sz="1400" dirty="0"/>
          </a:p>
        </p:txBody>
      </p:sp>
      <p:sp>
        <p:nvSpPr>
          <p:cNvPr id="13" name="Guardrail 2 situation"/>
          <p:cNvSpPr txBox="1"/>
          <p:nvPr/>
        </p:nvSpPr>
        <p:spPr>
          <a:xfrm>
            <a:off x="1417320" y="2560320"/>
            <a:ext cx="4754880" cy="713232"/>
          </a:xfrm>
          <a:prstGeom prst="rect">
            <a:avLst/>
          </a:prstGeom>
          <a:noFill/>
          <a:ln/>
        </p:spPr>
        <p:txBody>
          <a:bodyPr wrap="square" lIns="0" tIns="0" rIns="0" bIns="0" rtlCol="0" anchor="ctr"/>
          <a:lstStyle/>
          <a:p>
            <a:pPr indent="0" marL="0">
              <a:buNone/>
            </a:pPr>
            <a:r>
              <a:rPr lang="en-US" sz="1600" b="1" dirty="0">
                <a:solidFill>
                  <a:schemeClr val="tx1"/>
                </a:solidFill>
              </a:rPr>
              <a:t>Positive verdict without a valid citation</a:t>
            </a:r>
            <a:endParaRPr lang="en-US" sz="1600" dirty="0"/>
          </a:p>
        </p:txBody>
      </p:sp>
      <p:sp>
        <p:nvSpPr>
          <p:cNvPr id="14" name="Guardrail 2 arrow"/>
          <p:cNvSpPr txBox="1"/>
          <p:nvPr/>
        </p:nvSpPr>
        <p:spPr>
          <a:xfrm>
            <a:off x="6217920" y="2560320"/>
            <a:ext cx="457200" cy="713232"/>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15" name="Guardrail 2 rule"/>
          <p:cNvSpPr txBox="1"/>
          <p:nvPr/>
        </p:nvSpPr>
        <p:spPr>
          <a:xfrm>
            <a:off x="6766560" y="2560320"/>
            <a:ext cx="4647895" cy="713232"/>
          </a:xfrm>
          <a:prstGeom prst="rect">
            <a:avLst/>
          </a:prstGeom>
          <a:noFill/>
          <a:ln/>
        </p:spPr>
        <p:txBody>
          <a:bodyPr wrap="square" lIns="0" tIns="0" rIns="0" bIns="0" rtlCol="0" anchor="ctr"/>
          <a:lstStyle/>
          <a:p>
            <a:pPr indent="0" marL="0">
              <a:buNone/>
            </a:pPr>
            <a:r>
              <a:rPr lang="en-US" sz="1500" dirty="0">
                <a:solidFill>
                  <a:srgbClr val="5F6675"/>
                </a:solidFill>
              </a:rPr>
              <a:t>Downgraded to PARTIAL with low confidence</a:t>
            </a:r>
            <a:endParaRPr lang="en-US" sz="1500" dirty="0"/>
          </a:p>
        </p:txBody>
      </p:sp>
      <p:sp>
        <p:nvSpPr>
          <p:cNvPr id="16" name="Guardrail 3 row"/>
          <p:cNvSpPr/>
          <p:nvPr/>
        </p:nvSpPr>
        <p:spPr>
          <a:xfrm>
            <a:off x="548640" y="3429000"/>
            <a:ext cx="11094415" cy="713232"/>
          </a:xfrm>
          <a:prstGeom prst="roundRect">
            <a:avLst>
              <a:gd name="adj" fmla="val 15385"/>
            </a:avLst>
          </a:prstGeom>
          <a:solidFill>
            <a:schemeClr val="bg2"/>
          </a:solidFill>
          <a:ln/>
          <a:effectLst>
            <a:outerShdw sx="100000" sy="100000" kx="0" ky="0" algn="bl" rotWithShape="0" blurRad="101600" dist="25400" dir="5400000">
              <a:srgbClr val="1C2230">
                <a:alpha val="12000"/>
              </a:srgbClr>
            </a:outerShdw>
          </a:effectLst>
        </p:spPr>
      </p:sp>
      <p:sp>
        <p:nvSpPr>
          <p:cNvPr id="17" name="Guardrail 3 circle"/>
          <p:cNvSpPr/>
          <p:nvPr/>
        </p:nvSpPr>
        <p:spPr>
          <a:xfrm>
            <a:off x="777240" y="3575304"/>
            <a:ext cx="420624" cy="420624"/>
          </a:xfrm>
          <a:prstGeom prst="ellipse">
            <a:avLst/>
          </a:prstGeom>
          <a:solidFill>
            <a:schemeClr val="accent1"/>
          </a:solidFill>
          <a:ln w="12700">
            <a:solidFill>
              <a:schemeClr val="accent1"/>
            </a:solidFill>
            <a:prstDash val="solid"/>
          </a:ln>
        </p:spPr>
      </p:sp>
      <p:sp>
        <p:nvSpPr>
          <p:cNvPr id="18" name="Guardrail 3 number"/>
          <p:cNvSpPr txBox="1"/>
          <p:nvPr/>
        </p:nvSpPr>
        <p:spPr>
          <a:xfrm>
            <a:off x="777240" y="357530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3</a:t>
            </a:r>
            <a:endParaRPr lang="en-US" sz="1400" dirty="0"/>
          </a:p>
        </p:txBody>
      </p:sp>
      <p:sp>
        <p:nvSpPr>
          <p:cNvPr id="19" name="Guardrail 3 situation"/>
          <p:cNvSpPr txBox="1"/>
          <p:nvPr/>
        </p:nvSpPr>
        <p:spPr>
          <a:xfrm>
            <a:off x="1417320" y="3429000"/>
            <a:ext cx="4754880" cy="713232"/>
          </a:xfrm>
          <a:prstGeom prst="rect">
            <a:avLst/>
          </a:prstGeom>
          <a:noFill/>
          <a:ln/>
        </p:spPr>
        <p:txBody>
          <a:bodyPr wrap="square" lIns="0" tIns="0" rIns="0" bIns="0" rtlCol="0" anchor="ctr"/>
          <a:lstStyle/>
          <a:p>
            <a:pPr indent="0" marL="0">
              <a:buNone/>
            </a:pPr>
            <a:r>
              <a:rPr lang="en-US" sz="1600" b="1" dirty="0">
                <a:solidFill>
                  <a:schemeClr val="tx1"/>
                </a:solidFill>
              </a:rPr>
              <a:t>Cited path that was never scanned</a:t>
            </a:r>
            <a:endParaRPr lang="en-US" sz="1600" dirty="0"/>
          </a:p>
        </p:txBody>
      </p:sp>
      <p:sp>
        <p:nvSpPr>
          <p:cNvPr id="20" name="Guardrail 3 arrow"/>
          <p:cNvSpPr txBox="1"/>
          <p:nvPr/>
        </p:nvSpPr>
        <p:spPr>
          <a:xfrm>
            <a:off x="6217920" y="3429000"/>
            <a:ext cx="457200" cy="713232"/>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21" name="Guardrail 3 rule"/>
          <p:cNvSpPr txBox="1"/>
          <p:nvPr/>
        </p:nvSpPr>
        <p:spPr>
          <a:xfrm>
            <a:off x="6766560" y="3429000"/>
            <a:ext cx="4647895" cy="713232"/>
          </a:xfrm>
          <a:prstGeom prst="rect">
            <a:avLst/>
          </a:prstGeom>
          <a:noFill/>
          <a:ln/>
        </p:spPr>
        <p:txBody>
          <a:bodyPr wrap="square" lIns="0" tIns="0" rIns="0" bIns="0" rtlCol="0" anchor="ctr"/>
          <a:lstStyle/>
          <a:p>
            <a:pPr indent="0" marL="0">
              <a:buNone/>
            </a:pPr>
            <a:r>
              <a:rPr lang="en-US" sz="1500" dirty="0">
                <a:solidFill>
                  <a:srgbClr val="5F6675"/>
                </a:solidFill>
              </a:rPr>
              <a:t>Citation discarded; only scanned files count</a:t>
            </a:r>
            <a:endParaRPr lang="en-US" sz="1500" dirty="0"/>
          </a:p>
        </p:txBody>
      </p:sp>
      <p:sp>
        <p:nvSpPr>
          <p:cNvPr id="22" name="Guardrail 4 row"/>
          <p:cNvSpPr/>
          <p:nvPr/>
        </p:nvSpPr>
        <p:spPr>
          <a:xfrm>
            <a:off x="548640" y="4297680"/>
            <a:ext cx="11094415" cy="713232"/>
          </a:xfrm>
          <a:prstGeom prst="roundRect">
            <a:avLst>
              <a:gd name="adj" fmla="val 15385"/>
            </a:avLst>
          </a:prstGeom>
          <a:solidFill>
            <a:schemeClr val="bg1"/>
          </a:solidFill>
          <a:ln w="15875">
            <a:solidFill>
              <a:srgbClr val="D9DCE2"/>
            </a:solidFill>
            <a:prstDash val="solid"/>
          </a:ln>
          <a:effectLst>
            <a:outerShdw sx="100000" sy="100000" kx="0" ky="0" algn="bl" rotWithShape="0" blurRad="101600" dist="25400" dir="5400000">
              <a:srgbClr val="1C2230">
                <a:alpha val="12000"/>
              </a:srgbClr>
            </a:outerShdw>
          </a:effectLst>
        </p:spPr>
      </p:sp>
      <p:sp>
        <p:nvSpPr>
          <p:cNvPr id="23" name="Guardrail 4 circle"/>
          <p:cNvSpPr/>
          <p:nvPr/>
        </p:nvSpPr>
        <p:spPr>
          <a:xfrm>
            <a:off x="777240" y="4443984"/>
            <a:ext cx="420624" cy="420624"/>
          </a:xfrm>
          <a:prstGeom prst="ellipse">
            <a:avLst/>
          </a:prstGeom>
          <a:solidFill>
            <a:schemeClr val="accent1"/>
          </a:solidFill>
          <a:ln w="12700">
            <a:solidFill>
              <a:schemeClr val="accent1"/>
            </a:solidFill>
            <a:prstDash val="solid"/>
          </a:ln>
        </p:spPr>
      </p:sp>
      <p:sp>
        <p:nvSpPr>
          <p:cNvPr id="24" name="Guardrail 4 number"/>
          <p:cNvSpPr txBox="1"/>
          <p:nvPr/>
        </p:nvSpPr>
        <p:spPr>
          <a:xfrm>
            <a:off x="777240" y="444398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4</a:t>
            </a:r>
            <a:endParaRPr lang="en-US" sz="1400" dirty="0"/>
          </a:p>
        </p:txBody>
      </p:sp>
      <p:sp>
        <p:nvSpPr>
          <p:cNvPr id="25" name="Guardrail 4 situation"/>
          <p:cNvSpPr txBox="1"/>
          <p:nvPr/>
        </p:nvSpPr>
        <p:spPr>
          <a:xfrm>
            <a:off x="1417320" y="4297680"/>
            <a:ext cx="4754880" cy="713232"/>
          </a:xfrm>
          <a:prstGeom prst="rect">
            <a:avLst/>
          </a:prstGeom>
          <a:noFill/>
          <a:ln/>
        </p:spPr>
        <p:txBody>
          <a:bodyPr wrap="square" lIns="0" tIns="0" rIns="0" bIns="0" rtlCol="0" anchor="ctr"/>
          <a:lstStyle/>
          <a:p>
            <a:pPr indent="0" marL="0">
              <a:buNone/>
            </a:pPr>
            <a:r>
              <a:rPr lang="en-US" sz="1600" b="1" dirty="0">
                <a:solidFill>
                  <a:schemeClr val="tx1"/>
                </a:solidFill>
              </a:rPr>
              <a:t>Keyword signal the AI rejected</a:t>
            </a:r>
            <a:endParaRPr lang="en-US" sz="1600" dirty="0"/>
          </a:p>
        </p:txBody>
      </p:sp>
      <p:sp>
        <p:nvSpPr>
          <p:cNvPr id="26" name="Guardrail 4 arrow"/>
          <p:cNvSpPr txBox="1"/>
          <p:nvPr/>
        </p:nvSpPr>
        <p:spPr>
          <a:xfrm>
            <a:off x="6217920" y="4297680"/>
            <a:ext cx="457200" cy="713232"/>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27" name="Guardrail 4 rule"/>
          <p:cNvSpPr txBox="1"/>
          <p:nvPr/>
        </p:nvSpPr>
        <p:spPr>
          <a:xfrm>
            <a:off x="6766560" y="4297680"/>
            <a:ext cx="4647895" cy="713232"/>
          </a:xfrm>
          <a:prstGeom prst="rect">
            <a:avLst/>
          </a:prstGeom>
          <a:noFill/>
          <a:ln/>
        </p:spPr>
        <p:txBody>
          <a:bodyPr wrap="square" lIns="0" tIns="0" rIns="0" bIns="0" rtlCol="0" anchor="ctr"/>
          <a:lstStyle/>
          <a:p>
            <a:pPr indent="0" marL="0">
              <a:buNone/>
            </a:pPr>
            <a:r>
              <a:rPr lang="en-US" sz="1500" dirty="0">
                <a:solidFill>
                  <a:srgbClr val="5F6675"/>
                </a:solidFill>
              </a:rPr>
              <a:t>Kept visible, so the student sees what was checked</a:t>
            </a:r>
            <a:endParaRPr lang="en-US" sz="1500" dirty="0"/>
          </a:p>
        </p:txBody>
      </p:sp>
      <p:sp>
        <p:nvSpPr>
          <p:cNvPr id="28" name="Guardrail 5 row"/>
          <p:cNvSpPr/>
          <p:nvPr/>
        </p:nvSpPr>
        <p:spPr>
          <a:xfrm>
            <a:off x="548640" y="5166360"/>
            <a:ext cx="11094415" cy="713232"/>
          </a:xfrm>
          <a:prstGeom prst="roundRect">
            <a:avLst>
              <a:gd name="adj" fmla="val 15385"/>
            </a:avLst>
          </a:prstGeom>
          <a:solidFill>
            <a:schemeClr val="bg2"/>
          </a:solidFill>
          <a:ln/>
          <a:effectLst>
            <a:outerShdw sx="100000" sy="100000" kx="0" ky="0" algn="bl" rotWithShape="0" blurRad="101600" dist="25400" dir="5400000">
              <a:srgbClr val="1C2230">
                <a:alpha val="12000"/>
              </a:srgbClr>
            </a:outerShdw>
          </a:effectLst>
        </p:spPr>
      </p:sp>
      <p:sp>
        <p:nvSpPr>
          <p:cNvPr id="29" name="Guardrail 5 circle"/>
          <p:cNvSpPr/>
          <p:nvPr/>
        </p:nvSpPr>
        <p:spPr>
          <a:xfrm>
            <a:off x="777240" y="5312664"/>
            <a:ext cx="420624" cy="420624"/>
          </a:xfrm>
          <a:prstGeom prst="ellipse">
            <a:avLst/>
          </a:prstGeom>
          <a:solidFill>
            <a:schemeClr val="accent1"/>
          </a:solidFill>
          <a:ln w="12700">
            <a:solidFill>
              <a:schemeClr val="accent1"/>
            </a:solidFill>
            <a:prstDash val="solid"/>
          </a:ln>
        </p:spPr>
      </p:sp>
      <p:sp>
        <p:nvSpPr>
          <p:cNvPr id="30" name="Guardrail 5 number"/>
          <p:cNvSpPr txBox="1"/>
          <p:nvPr/>
        </p:nvSpPr>
        <p:spPr>
          <a:xfrm>
            <a:off x="777240" y="531266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5</a:t>
            </a:r>
            <a:endParaRPr lang="en-US" sz="1400" dirty="0"/>
          </a:p>
        </p:txBody>
      </p:sp>
      <p:sp>
        <p:nvSpPr>
          <p:cNvPr id="31" name="Guardrail 5 situation"/>
          <p:cNvSpPr txBox="1"/>
          <p:nvPr/>
        </p:nvSpPr>
        <p:spPr>
          <a:xfrm>
            <a:off x="1417320" y="5166360"/>
            <a:ext cx="4754880" cy="713232"/>
          </a:xfrm>
          <a:prstGeom prst="rect">
            <a:avLst/>
          </a:prstGeom>
          <a:noFill/>
          <a:ln/>
        </p:spPr>
        <p:txBody>
          <a:bodyPr wrap="square" lIns="0" tIns="0" rIns="0" bIns="0" rtlCol="0" anchor="ctr"/>
          <a:lstStyle/>
          <a:p>
            <a:pPr indent="0" marL="0">
              <a:buNone/>
            </a:pPr>
            <a:r>
              <a:rPr lang="en-US" sz="1600" b="1" dirty="0">
                <a:solidFill>
                  <a:schemeClr val="tx1"/>
                </a:solidFill>
              </a:rPr>
              <a:t>AI unavailable or rate-limited</a:t>
            </a:r>
            <a:endParaRPr lang="en-US" sz="1600" dirty="0"/>
          </a:p>
        </p:txBody>
      </p:sp>
      <p:sp>
        <p:nvSpPr>
          <p:cNvPr id="32" name="Guardrail 5 arrow"/>
          <p:cNvSpPr txBox="1"/>
          <p:nvPr/>
        </p:nvSpPr>
        <p:spPr>
          <a:xfrm>
            <a:off x="6217920" y="5166360"/>
            <a:ext cx="457200" cy="713232"/>
          </a:xfrm>
          <a:prstGeom prst="rect">
            <a:avLst/>
          </a:prstGeom>
          <a:noFill/>
          <a:ln/>
        </p:spPr>
        <p:txBody>
          <a:bodyPr wrap="square" lIns="0" tIns="0" rIns="0" bIns="0" rtlCol="0" anchor="ctr"/>
          <a:lstStyle/>
          <a:p>
            <a:pPr algn="ctr" indent="0" marL="0">
              <a:buNone/>
            </a:pPr>
            <a:r>
              <a:rPr lang="en-US" sz="1800" b="1" dirty="0">
                <a:solidFill>
                  <a:schemeClr val="accent1"/>
                </a:solidFill>
              </a:rPr>
              <a:t>→</a:t>
            </a:r>
            <a:endParaRPr lang="en-US" sz="1800" dirty="0"/>
          </a:p>
        </p:txBody>
      </p:sp>
      <p:sp>
        <p:nvSpPr>
          <p:cNvPr id="33" name="Guardrail 5 rule"/>
          <p:cNvSpPr txBox="1"/>
          <p:nvPr/>
        </p:nvSpPr>
        <p:spPr>
          <a:xfrm>
            <a:off x="6766560" y="5166360"/>
            <a:ext cx="4647895" cy="713232"/>
          </a:xfrm>
          <a:prstGeom prst="rect">
            <a:avLst/>
          </a:prstGeom>
          <a:noFill/>
          <a:ln/>
        </p:spPr>
        <p:txBody>
          <a:bodyPr wrap="square" lIns="0" tIns="0" rIns="0" bIns="0" rtlCol="0" anchor="ctr"/>
          <a:lstStyle/>
          <a:p>
            <a:pPr indent="0" marL="0">
              <a:buNone/>
            </a:pPr>
            <a:r>
              <a:rPr lang="en-US" sz="1500" dirty="0">
                <a:solidFill>
                  <a:srgbClr val="5F6675"/>
                </a:solidFill>
              </a:rPr>
              <a:t>Keyword-rule results, labelled “Keyword rules”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B919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07 · CHANGE DETECTION</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indent="0" marL="0">
              <a:buNone/>
            </a:pPr>
            <a:r>
              <a:rPr lang="en-US" sz="3200" b="1" dirty="0">
                <a:solidFill>
                  <a:schemeClr val="tx1"/>
                </a:solidFill>
              </a:rPr>
              <a:t>Push a commit, watch the verdict change</a:t>
            </a:r>
            <a:endParaRPr lang="en-US" sz="3200" dirty="0"/>
          </a:p>
        </p:txBody>
      </p:sp>
      <p:sp>
        <p:nvSpPr>
          <p:cNvPr id="4" name="Timeline line"/>
          <p:cNvSpPr/>
          <p:nvPr/>
        </p:nvSpPr>
        <p:spPr>
          <a:xfrm>
            <a:off x="1658082" y="2148840"/>
            <a:ext cx="8875532" cy="0"/>
          </a:xfrm>
          <a:prstGeom prst="line">
            <a:avLst/>
          </a:prstGeom>
          <a:noFill/>
          <a:ln w="25400">
            <a:solidFill>
              <a:schemeClr val="accent2"/>
            </a:solidFill>
            <a:prstDash val="dash"/>
          </a:ln>
        </p:spPr>
      </p:sp>
      <p:sp>
        <p:nvSpPr>
          <p:cNvPr id="5" name="Timeline 1 circle"/>
          <p:cNvSpPr/>
          <p:nvPr/>
        </p:nvSpPr>
        <p:spPr>
          <a:xfrm>
            <a:off x="1383762" y="1874520"/>
            <a:ext cx="548640" cy="548640"/>
          </a:xfrm>
          <a:prstGeom prst="ellipse">
            <a:avLst/>
          </a:prstGeom>
          <a:solidFill>
            <a:schemeClr val="accent1"/>
          </a:solidFill>
          <a:ln w="12700">
            <a:solidFill>
              <a:schemeClr val="accent1"/>
            </a:solidFill>
            <a:prstDash val="solid"/>
          </a:ln>
        </p:spPr>
      </p:sp>
      <p:sp>
        <p:nvSpPr>
          <p:cNvPr id="6" name="Timeline 1 number"/>
          <p:cNvSpPr txBox="1"/>
          <p:nvPr/>
        </p:nvSpPr>
        <p:spPr>
          <a:xfrm>
            <a:off x="1383762" y="18745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1</a:t>
            </a:r>
            <a:endParaRPr lang="en-US" sz="1400" dirty="0"/>
          </a:p>
        </p:txBody>
      </p:sp>
      <p:sp>
        <p:nvSpPr>
          <p:cNvPr id="7" name="Timeline 1 title"/>
          <p:cNvSpPr txBox="1"/>
          <p:nvPr/>
        </p:nvSpPr>
        <p:spPr>
          <a:xfrm>
            <a:off x="640080" y="2606040"/>
            <a:ext cx="2036003" cy="365760"/>
          </a:xfrm>
          <a:prstGeom prst="rect">
            <a:avLst/>
          </a:prstGeom>
          <a:noFill/>
          <a:ln/>
        </p:spPr>
        <p:txBody>
          <a:bodyPr wrap="square" lIns="0" tIns="0" rIns="0" bIns="0" rtlCol="0" anchor="t"/>
          <a:lstStyle/>
          <a:p>
            <a:pPr algn="ctr" indent="0" marL="0">
              <a:buNone/>
            </a:pPr>
            <a:r>
              <a:rPr lang="en-US" sz="1800" b="1" dirty="0">
                <a:solidFill>
                  <a:schemeClr val="tx1"/>
                </a:solidFill>
                <a:latin typeface="Arial" pitchFamily="34" charset="0"/>
                <a:ea typeface="Arial" pitchFamily="34" charset="-122"/>
                <a:cs typeface="Arial" pitchFamily="34" charset="-120"/>
              </a:rPr>
              <a:t>Watch</a:t>
            </a:r>
            <a:endParaRPr lang="en-US" sz="1800" dirty="0"/>
          </a:p>
        </p:txBody>
      </p:sp>
      <p:sp>
        <p:nvSpPr>
          <p:cNvPr id="8" name="Timeline 1 body"/>
          <p:cNvSpPr txBox="1"/>
          <p:nvPr/>
        </p:nvSpPr>
        <p:spPr>
          <a:xfrm>
            <a:off x="685800" y="2999232"/>
            <a:ext cx="1944563" cy="914400"/>
          </a:xfrm>
          <a:prstGeom prst="rect">
            <a:avLst/>
          </a:prstGeom>
          <a:noFill/>
          <a:ln/>
        </p:spPr>
        <p:txBody>
          <a:bodyPr wrap="square" lIns="0" tIns="0" rIns="0" bIns="0" rtlCol="0" anchor="t"/>
          <a:lstStyle/>
          <a:p>
            <a:pPr algn="ctr" indent="0" marL="0">
              <a:buNone/>
            </a:pPr>
            <a:r>
              <a:rPr lang="en-US" sz="1400" dirty="0">
                <a:solidFill>
                  <a:srgbClr val="5F6675"/>
                </a:solidFill>
              </a:rPr>
              <a:t>Register repo and branch; optionally install a signed webhook</a:t>
            </a:r>
            <a:endParaRPr lang="en-US" sz="1400" dirty="0"/>
          </a:p>
        </p:txBody>
      </p:sp>
      <p:sp>
        <p:nvSpPr>
          <p:cNvPr id="9" name="Timeline 2 circle"/>
          <p:cNvSpPr/>
          <p:nvPr/>
        </p:nvSpPr>
        <p:spPr>
          <a:xfrm>
            <a:off x="3602645" y="1874520"/>
            <a:ext cx="548640" cy="548640"/>
          </a:xfrm>
          <a:prstGeom prst="ellipse">
            <a:avLst/>
          </a:prstGeom>
          <a:solidFill>
            <a:schemeClr val="accent2"/>
          </a:solidFill>
          <a:ln w="12700">
            <a:solidFill>
              <a:schemeClr val="accent2"/>
            </a:solidFill>
            <a:prstDash val="solid"/>
          </a:ln>
        </p:spPr>
      </p:sp>
      <p:sp>
        <p:nvSpPr>
          <p:cNvPr id="10" name="Timeline 2 number"/>
          <p:cNvSpPr txBox="1"/>
          <p:nvPr/>
        </p:nvSpPr>
        <p:spPr>
          <a:xfrm>
            <a:off x="3602645" y="18745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2</a:t>
            </a:r>
            <a:endParaRPr lang="en-US" sz="1400" dirty="0"/>
          </a:p>
        </p:txBody>
      </p:sp>
      <p:sp>
        <p:nvSpPr>
          <p:cNvPr id="11" name="Timeline 2 title"/>
          <p:cNvSpPr txBox="1"/>
          <p:nvPr/>
        </p:nvSpPr>
        <p:spPr>
          <a:xfrm>
            <a:off x="2858963" y="2606040"/>
            <a:ext cx="2036003" cy="365760"/>
          </a:xfrm>
          <a:prstGeom prst="rect">
            <a:avLst/>
          </a:prstGeom>
          <a:noFill/>
          <a:ln/>
        </p:spPr>
        <p:txBody>
          <a:bodyPr wrap="square" lIns="0" tIns="0" rIns="0" bIns="0" rtlCol="0" anchor="t"/>
          <a:lstStyle/>
          <a:p>
            <a:pPr algn="ctr" indent="0" marL="0">
              <a:buNone/>
            </a:pPr>
            <a:r>
              <a:rPr lang="en-US" sz="1800" b="1" dirty="0">
                <a:solidFill>
                  <a:schemeClr val="tx1"/>
                </a:solidFill>
                <a:latin typeface="Arial" pitchFamily="34" charset="0"/>
                <a:ea typeface="Arial" pitchFamily="34" charset="-122"/>
                <a:cs typeface="Arial" pitchFamily="34" charset="-120"/>
              </a:rPr>
              <a:t>Detect</a:t>
            </a:r>
            <a:endParaRPr lang="en-US" sz="1800" dirty="0"/>
          </a:p>
        </p:txBody>
      </p:sp>
      <p:sp>
        <p:nvSpPr>
          <p:cNvPr id="12" name="Timeline 2 body"/>
          <p:cNvSpPr txBox="1"/>
          <p:nvPr/>
        </p:nvSpPr>
        <p:spPr>
          <a:xfrm>
            <a:off x="2904683" y="2999232"/>
            <a:ext cx="1944563" cy="914400"/>
          </a:xfrm>
          <a:prstGeom prst="rect">
            <a:avLst/>
          </a:prstGeom>
          <a:noFill/>
          <a:ln/>
        </p:spPr>
        <p:txBody>
          <a:bodyPr wrap="square" lIns="0" tIns="0" rIns="0" bIns="0" rtlCol="0" anchor="t"/>
          <a:lstStyle/>
          <a:p>
            <a:pPr algn="ctr" indent="0" marL="0">
              <a:buNone/>
            </a:pPr>
            <a:r>
              <a:rPr lang="en-US" sz="1400" dirty="0">
                <a:solidFill>
                  <a:srgbClr val="5F6675"/>
                </a:solidFill>
              </a:rPr>
              <a:t>Signed push, or the head SHA checked every 60 s</a:t>
            </a:r>
            <a:endParaRPr lang="en-US" sz="1400" dirty="0"/>
          </a:p>
        </p:txBody>
      </p:sp>
      <p:sp>
        <p:nvSpPr>
          <p:cNvPr id="13" name="Timeline 3 circle"/>
          <p:cNvSpPr/>
          <p:nvPr/>
        </p:nvSpPr>
        <p:spPr>
          <a:xfrm>
            <a:off x="5821528" y="1874520"/>
            <a:ext cx="548640" cy="548640"/>
          </a:xfrm>
          <a:prstGeom prst="ellipse">
            <a:avLst/>
          </a:prstGeom>
          <a:solidFill>
            <a:schemeClr val="accent2"/>
          </a:solidFill>
          <a:ln w="12700">
            <a:solidFill>
              <a:schemeClr val="accent2"/>
            </a:solidFill>
            <a:prstDash val="solid"/>
          </a:ln>
        </p:spPr>
      </p:sp>
      <p:sp>
        <p:nvSpPr>
          <p:cNvPr id="14" name="Timeline 3 number"/>
          <p:cNvSpPr txBox="1"/>
          <p:nvPr/>
        </p:nvSpPr>
        <p:spPr>
          <a:xfrm>
            <a:off x="5821528" y="18745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3</a:t>
            </a:r>
            <a:endParaRPr lang="en-US" sz="1400" dirty="0"/>
          </a:p>
        </p:txBody>
      </p:sp>
      <p:sp>
        <p:nvSpPr>
          <p:cNvPr id="15" name="Timeline 3 title"/>
          <p:cNvSpPr txBox="1"/>
          <p:nvPr/>
        </p:nvSpPr>
        <p:spPr>
          <a:xfrm>
            <a:off x="5077846" y="2606040"/>
            <a:ext cx="2036003" cy="365760"/>
          </a:xfrm>
          <a:prstGeom prst="rect">
            <a:avLst/>
          </a:prstGeom>
          <a:noFill/>
          <a:ln/>
        </p:spPr>
        <p:txBody>
          <a:bodyPr wrap="square" lIns="0" tIns="0" rIns="0" bIns="0" rtlCol="0" anchor="t"/>
          <a:lstStyle/>
          <a:p>
            <a:pPr algn="ctr" indent="0" marL="0">
              <a:buNone/>
            </a:pPr>
            <a:r>
              <a:rPr lang="en-US" sz="1800" b="1" dirty="0">
                <a:solidFill>
                  <a:schemeClr val="tx1"/>
                </a:solidFill>
                <a:latin typeface="Arial" pitchFamily="34" charset="0"/>
                <a:ea typeface="Arial" pitchFamily="34" charset="-122"/>
                <a:cs typeface="Arial" pitchFamily="34" charset="-120"/>
              </a:rPr>
              <a:t>Pending</a:t>
            </a:r>
            <a:endParaRPr lang="en-US" sz="1800" dirty="0"/>
          </a:p>
        </p:txBody>
      </p:sp>
      <p:sp>
        <p:nvSpPr>
          <p:cNvPr id="16" name="Timeline 3 body"/>
          <p:cNvSpPr txBox="1"/>
          <p:nvPr/>
        </p:nvSpPr>
        <p:spPr>
          <a:xfrm>
            <a:off x="5123566" y="2999232"/>
            <a:ext cx="1944563" cy="914400"/>
          </a:xfrm>
          <a:prstGeom prst="rect">
            <a:avLst/>
          </a:prstGeom>
          <a:noFill/>
          <a:ln/>
        </p:spPr>
        <p:txBody>
          <a:bodyPr wrap="square" lIns="0" tIns="0" rIns="0" bIns="0" rtlCol="0" anchor="t"/>
          <a:lstStyle/>
          <a:p>
            <a:pPr algn="ctr" indent="0" marL="0">
              <a:buNone/>
            </a:pPr>
            <a:r>
              <a:rPr lang="en-US" sz="1400" dirty="0">
                <a:solidFill>
                  <a:srgbClr val="5F6675"/>
                </a:solidFill>
              </a:rPr>
              <a:t>Dashboard shows “abc1234 reassessing…”</a:t>
            </a:r>
            <a:endParaRPr lang="en-US" sz="1400" dirty="0"/>
          </a:p>
        </p:txBody>
      </p:sp>
      <p:sp>
        <p:nvSpPr>
          <p:cNvPr id="17" name="Timeline 4 circle"/>
          <p:cNvSpPr/>
          <p:nvPr/>
        </p:nvSpPr>
        <p:spPr>
          <a:xfrm>
            <a:off x="8040411" y="1874520"/>
            <a:ext cx="548640" cy="548640"/>
          </a:xfrm>
          <a:prstGeom prst="ellipse">
            <a:avLst/>
          </a:prstGeom>
          <a:solidFill>
            <a:schemeClr val="accent2"/>
          </a:solidFill>
          <a:ln w="12700">
            <a:solidFill>
              <a:schemeClr val="accent2"/>
            </a:solidFill>
            <a:prstDash val="solid"/>
          </a:ln>
        </p:spPr>
      </p:sp>
      <p:sp>
        <p:nvSpPr>
          <p:cNvPr id="18" name="Timeline 4 number"/>
          <p:cNvSpPr txBox="1"/>
          <p:nvPr/>
        </p:nvSpPr>
        <p:spPr>
          <a:xfrm>
            <a:off x="8040411" y="18745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4</a:t>
            </a:r>
            <a:endParaRPr lang="en-US" sz="1400" dirty="0"/>
          </a:p>
        </p:txBody>
      </p:sp>
      <p:sp>
        <p:nvSpPr>
          <p:cNvPr id="19" name="Timeline 4 title"/>
          <p:cNvSpPr txBox="1"/>
          <p:nvPr/>
        </p:nvSpPr>
        <p:spPr>
          <a:xfrm>
            <a:off x="7296729" y="2606040"/>
            <a:ext cx="2036003" cy="365760"/>
          </a:xfrm>
          <a:prstGeom prst="rect">
            <a:avLst/>
          </a:prstGeom>
          <a:noFill/>
          <a:ln/>
        </p:spPr>
        <p:txBody>
          <a:bodyPr wrap="square" lIns="0" tIns="0" rIns="0" bIns="0" rtlCol="0" anchor="t"/>
          <a:lstStyle/>
          <a:p>
            <a:pPr algn="ctr" indent="0" marL="0">
              <a:buNone/>
            </a:pPr>
            <a:r>
              <a:rPr lang="en-US" sz="1800" b="1" dirty="0">
                <a:solidFill>
                  <a:schemeClr val="tx1"/>
                </a:solidFill>
                <a:latin typeface="Arial" pitchFamily="34" charset="0"/>
                <a:ea typeface="Arial" pitchFamily="34" charset="-122"/>
                <a:cs typeface="Arial" pitchFamily="34" charset="-120"/>
              </a:rPr>
              <a:t>Reassess</a:t>
            </a:r>
            <a:endParaRPr lang="en-US" sz="1800" dirty="0"/>
          </a:p>
        </p:txBody>
      </p:sp>
      <p:sp>
        <p:nvSpPr>
          <p:cNvPr id="20" name="Timeline 4 body"/>
          <p:cNvSpPr txBox="1"/>
          <p:nvPr/>
        </p:nvSpPr>
        <p:spPr>
          <a:xfrm>
            <a:off x="7342449" y="2999232"/>
            <a:ext cx="1944563" cy="914400"/>
          </a:xfrm>
          <a:prstGeom prst="rect">
            <a:avLst/>
          </a:prstGeom>
          <a:noFill/>
          <a:ln/>
        </p:spPr>
        <p:txBody>
          <a:bodyPr wrap="square" lIns="0" tIns="0" rIns="0" bIns="0" rtlCol="0" anchor="t"/>
          <a:lstStyle/>
          <a:p>
            <a:pPr algn="ctr" indent="0" marL="0">
              <a:buNone/>
            </a:pPr>
            <a:r>
              <a:rPr lang="en-US" sz="1400" dirty="0">
                <a:solidFill>
                  <a:srgbClr val="5F6675"/>
                </a:solidFill>
              </a:rPr>
              <a:t>Rescan at the new SHA, AI review + guardrails</a:t>
            </a:r>
            <a:endParaRPr lang="en-US" sz="1400" dirty="0"/>
          </a:p>
        </p:txBody>
      </p:sp>
      <p:sp>
        <p:nvSpPr>
          <p:cNvPr id="21" name="Timeline 5 circle"/>
          <p:cNvSpPr/>
          <p:nvPr/>
        </p:nvSpPr>
        <p:spPr>
          <a:xfrm>
            <a:off x="10259294" y="1874520"/>
            <a:ext cx="548640" cy="548640"/>
          </a:xfrm>
          <a:prstGeom prst="ellipse">
            <a:avLst/>
          </a:prstGeom>
          <a:solidFill>
            <a:schemeClr val="accent2"/>
          </a:solidFill>
          <a:ln w="12700">
            <a:solidFill>
              <a:schemeClr val="accent2"/>
            </a:solidFill>
            <a:prstDash val="solid"/>
          </a:ln>
        </p:spPr>
      </p:sp>
      <p:sp>
        <p:nvSpPr>
          <p:cNvPr id="22" name="Timeline 5 number"/>
          <p:cNvSpPr txBox="1"/>
          <p:nvPr/>
        </p:nvSpPr>
        <p:spPr>
          <a:xfrm>
            <a:off x="10259294" y="1874520"/>
            <a:ext cx="548640" cy="54864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5</a:t>
            </a:r>
            <a:endParaRPr lang="en-US" sz="1400" dirty="0"/>
          </a:p>
        </p:txBody>
      </p:sp>
      <p:sp>
        <p:nvSpPr>
          <p:cNvPr id="23" name="Timeline 5 title"/>
          <p:cNvSpPr txBox="1"/>
          <p:nvPr/>
        </p:nvSpPr>
        <p:spPr>
          <a:xfrm>
            <a:off x="9515612" y="2606040"/>
            <a:ext cx="2036003" cy="365760"/>
          </a:xfrm>
          <a:prstGeom prst="rect">
            <a:avLst/>
          </a:prstGeom>
          <a:noFill/>
          <a:ln/>
        </p:spPr>
        <p:txBody>
          <a:bodyPr wrap="square" lIns="0" tIns="0" rIns="0" bIns="0" rtlCol="0" anchor="t"/>
          <a:lstStyle/>
          <a:p>
            <a:pPr algn="ctr" indent="0" marL="0">
              <a:buNone/>
            </a:pPr>
            <a:r>
              <a:rPr lang="en-US" sz="1800" b="1" dirty="0">
                <a:solidFill>
                  <a:schemeClr val="tx1"/>
                </a:solidFill>
                <a:latin typeface="Arial" pitchFamily="34" charset="0"/>
                <a:ea typeface="Arial" pitchFamily="34" charset="-122"/>
                <a:cs typeface="Arial" pitchFamily="34" charset="-120"/>
              </a:rPr>
              <a:t>Publish</a:t>
            </a:r>
            <a:endParaRPr lang="en-US" sz="1800" dirty="0"/>
          </a:p>
        </p:txBody>
      </p:sp>
      <p:sp>
        <p:nvSpPr>
          <p:cNvPr id="24" name="Timeline 5 body"/>
          <p:cNvSpPr txBox="1"/>
          <p:nvPr/>
        </p:nvSpPr>
        <p:spPr>
          <a:xfrm>
            <a:off x="9561332" y="2999232"/>
            <a:ext cx="1944563" cy="914400"/>
          </a:xfrm>
          <a:prstGeom prst="rect">
            <a:avLst/>
          </a:prstGeom>
          <a:noFill/>
          <a:ln/>
        </p:spPr>
        <p:txBody>
          <a:bodyPr wrap="square" lIns="0" tIns="0" rIns="0" bIns="0" rtlCol="0" anchor="t"/>
          <a:lstStyle/>
          <a:p>
            <a:pPr algn="ctr" indent="0" marL="0">
              <a:buNone/>
            </a:pPr>
            <a:r>
              <a:rPr lang="en-US" sz="1400" dirty="0">
                <a:solidFill>
                  <a:srgbClr val="5F6675"/>
                </a:solidFill>
              </a:rPr>
              <a:t>New version saved; changed skills marked “Improved”</a:t>
            </a:r>
            <a:endParaRPr lang="en-US" sz="1400" dirty="0"/>
          </a:p>
        </p:txBody>
      </p:sp>
      <p:sp>
        <p:nvSpPr>
          <p:cNvPr id="25" name="Webhook card"/>
          <p:cNvSpPr/>
          <p:nvPr/>
        </p:nvSpPr>
        <p:spPr>
          <a:xfrm>
            <a:off x="548640" y="4251960"/>
            <a:ext cx="5410048" cy="1691640"/>
          </a:xfrm>
          <a:prstGeom prst="roundRect">
            <a:avLst>
              <a:gd name="adj" fmla="val 6486"/>
            </a:avLst>
          </a:prstGeom>
          <a:solidFill>
            <a:schemeClr val="bg2"/>
          </a:solidFill>
          <a:ln/>
          <a:effectLst>
            <a:outerShdw sx="100000" sy="100000" kx="0" ky="0" algn="bl" rotWithShape="0" blurRad="101600" dist="25400" dir="5400000">
              <a:srgbClr val="1C2230">
                <a:alpha val="12000"/>
              </a:srgbClr>
            </a:outerShdw>
          </a:effectLst>
        </p:spPr>
      </p:sp>
      <p:sp>
        <p:nvSpPr>
          <p:cNvPr id="26" name="Webhook title"/>
          <p:cNvSpPr txBox="1"/>
          <p:nvPr/>
        </p:nvSpPr>
        <p:spPr>
          <a:xfrm>
            <a:off x="868680" y="4462272"/>
            <a:ext cx="4769968"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Signed GitHub webhook</a:t>
            </a:r>
            <a:endParaRPr lang="en-US" sz="1800" dirty="0"/>
          </a:p>
        </p:txBody>
      </p:sp>
      <p:sp>
        <p:nvSpPr>
          <p:cNvPr id="27" name="Webhook body"/>
          <p:cNvSpPr txBox="1"/>
          <p:nvPr/>
        </p:nvSpPr>
        <p:spPr>
          <a:xfrm>
            <a:off x="868680" y="4873752"/>
            <a:ext cx="4769968" cy="960120"/>
          </a:xfrm>
          <a:prstGeom prst="rect">
            <a:avLst/>
          </a:prstGeom>
          <a:noFill/>
          <a:ln/>
        </p:spPr>
        <p:txBody>
          <a:bodyPr wrap="square" lIns="0" tIns="0" rIns="0" bIns="0" rtlCol="0" anchor="t"/>
          <a:lstStyle/>
          <a:p>
            <a:pPr indent="0" marL="0">
              <a:buNone/>
            </a:pPr>
            <a:r>
              <a:rPr lang="en-US" sz="1400" dirty="0">
                <a:solidFill>
                  <a:srgbClr val="5F6675"/>
                </a:solidFill>
              </a:rPr>
              <a:t>Verified with X-Hub-Signature-256 (HMAC-SHA256), filtered to the watched branch, answered with 202 so GitHub never waits.</a:t>
            </a:r>
            <a:endParaRPr lang="en-US" sz="1400" dirty="0"/>
          </a:p>
        </p:txBody>
      </p:sp>
      <p:sp>
        <p:nvSpPr>
          <p:cNvPr id="28" name="Polling card"/>
          <p:cNvSpPr/>
          <p:nvPr/>
        </p:nvSpPr>
        <p:spPr>
          <a:xfrm>
            <a:off x="6233008" y="4251960"/>
            <a:ext cx="5410048" cy="1691640"/>
          </a:xfrm>
          <a:prstGeom prst="roundRect">
            <a:avLst>
              <a:gd name="adj" fmla="val 6486"/>
            </a:avLst>
          </a:prstGeom>
          <a:solidFill>
            <a:schemeClr val="tx2"/>
          </a:solidFill>
          <a:ln/>
          <a:effectLst>
            <a:outerShdw sx="100000" sy="100000" kx="0" ky="0" algn="bl" rotWithShape="0" blurRad="101600" dist="25400" dir="5400000">
              <a:srgbClr val="1C2230">
                <a:alpha val="12000"/>
              </a:srgbClr>
            </a:outerShdw>
          </a:effectLst>
        </p:spPr>
      </p:sp>
      <p:sp>
        <p:nvSpPr>
          <p:cNvPr id="29" name="Polling title"/>
          <p:cNvSpPr txBox="1"/>
          <p:nvPr/>
        </p:nvSpPr>
        <p:spPr>
          <a:xfrm>
            <a:off x="6553048" y="4462272"/>
            <a:ext cx="4769968" cy="36576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Polling fallback</a:t>
            </a:r>
            <a:endParaRPr lang="en-US" sz="1800" dirty="0"/>
          </a:p>
        </p:txBody>
      </p:sp>
      <p:sp>
        <p:nvSpPr>
          <p:cNvPr id="30" name="Polling body"/>
          <p:cNvSpPr txBox="1"/>
          <p:nvPr/>
        </p:nvSpPr>
        <p:spPr>
          <a:xfrm>
            <a:off x="6553048" y="4873752"/>
            <a:ext cx="4769968" cy="960120"/>
          </a:xfrm>
          <a:prstGeom prst="rect">
            <a:avLst/>
          </a:prstGeom>
          <a:noFill/>
          <a:ln/>
        </p:spPr>
        <p:txBody>
          <a:bodyPr wrap="square" lIns="0" tIns="0" rIns="0" bIns="0" rtlCol="0" anchor="t"/>
          <a:lstStyle/>
          <a:p>
            <a:pPr indent="0" marL="0">
              <a:buNone/>
            </a:pPr>
            <a:r>
              <a:rPr lang="en-US" sz="1400" dirty="0">
                <a:solidFill>
                  <a:srgbClr val="C9D0DD"/>
                </a:solidFill>
              </a:rPr>
              <a:t>If a webhook is missed or blocked, the monitor still finds the new commit within 60 seconds. The dashboard checks for updates every 4 seconds.</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B919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08 · LIVE PRODUCT</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indent="0" marL="0">
              <a:buNone/>
            </a:pPr>
            <a:r>
              <a:rPr lang="en-US" sz="3200" b="1" dirty="0">
                <a:solidFill>
                  <a:schemeClr val="tx1"/>
                </a:solidFill>
              </a:rPr>
              <a:t>Deployed and usable today</a:t>
            </a:r>
            <a:endParaRPr lang="en-US" sz="3200" dirty="0"/>
          </a:p>
        </p:txBody>
      </p:sp>
      <p:sp>
        <p:nvSpPr>
          <p:cNvPr id="4" name="Product frame"/>
          <p:cNvSpPr/>
          <p:nvPr/>
        </p:nvSpPr>
        <p:spPr>
          <a:xfrm>
            <a:off x="548640" y="1645920"/>
            <a:ext cx="6858000" cy="4343400"/>
          </a:xfrm>
          <a:prstGeom prst="roundRect">
            <a:avLst>
              <a:gd name="adj" fmla="val 1684"/>
            </a:avLst>
          </a:prstGeom>
          <a:solidFill>
            <a:schemeClr val="tx2"/>
          </a:solidFill>
          <a:ln w="12700">
            <a:solidFill>
              <a:schemeClr val="tx2"/>
            </a:solidFill>
            <a:prstDash val="solid"/>
          </a:ln>
          <a:effectLst>
            <a:outerShdw sx="100000" sy="100000" kx="0" ky="0" algn="bl" rotWithShape="0" blurRad="101600" dist="25400" dir="5400000">
              <a:srgbClr val="1C2230">
                <a:alpha val="12000"/>
              </a:srgbClr>
            </a:outerShdw>
          </a:effectLst>
        </p:spPr>
      </p:sp>
      <p:pic>
        <p:nvPicPr>
          <p:cNvPr id="5" name="Product screenshot" descr="ProofPath dashboard home screen">    </p:cNvPr>
          <p:cNvPicPr>
            <a:picLocks noChangeAspect="1"/>
          </p:cNvPicPr>
          <p:nvPr/>
        </p:nvPicPr>
        <p:blipFill>
          <a:blip r:embed="rId1"/>
          <a:stretch>
            <a:fillRect/>
          </a:stretch>
        </p:blipFill>
        <p:spPr>
          <a:xfrm>
            <a:off x="603504" y="1700784"/>
            <a:ext cx="6748272" cy="4217670"/>
          </a:xfrm>
          <a:prstGeom prst="rect">
            <a:avLst/>
          </a:prstGeom>
        </p:spPr>
      </p:pic>
      <p:sp>
        <p:nvSpPr>
          <p:cNvPr id="6" name="Callout 1"/>
          <p:cNvSpPr/>
          <p:nvPr/>
        </p:nvSpPr>
        <p:spPr>
          <a:xfrm>
            <a:off x="7726680" y="1645920"/>
            <a:ext cx="3916375" cy="1298448"/>
          </a:xfrm>
          <a:prstGeom prst="roundRect">
            <a:avLst>
              <a:gd name="adj" fmla="val 8451"/>
            </a:avLst>
          </a:prstGeom>
          <a:solidFill>
            <a:schemeClr val="bg2"/>
          </a:solidFill>
          <a:ln/>
          <a:effectLst>
            <a:outerShdw sx="100000" sy="100000" kx="0" ky="0" algn="bl" rotWithShape="0" blurRad="101600" dist="25400" dir="5400000">
              <a:srgbClr val="1C2230">
                <a:alpha val="12000"/>
              </a:srgbClr>
            </a:outerShdw>
          </a:effectLst>
        </p:spPr>
      </p:sp>
      <p:sp>
        <p:nvSpPr>
          <p:cNvPr id="7" name="Callout 1 title"/>
          <p:cNvSpPr txBox="1"/>
          <p:nvPr/>
        </p:nvSpPr>
        <p:spPr>
          <a:xfrm>
            <a:off x="8001000" y="1810512"/>
            <a:ext cx="3367735"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Live on Render</a:t>
            </a:r>
            <a:endParaRPr lang="en-US" sz="1700" dirty="0"/>
          </a:p>
        </p:txBody>
      </p:sp>
      <p:sp>
        <p:nvSpPr>
          <p:cNvPr id="8" name="Callout 1 body"/>
          <p:cNvSpPr txBox="1"/>
          <p:nvPr/>
        </p:nvSpPr>
        <p:spPr>
          <a:xfrm>
            <a:off x="8001000" y="2176272"/>
            <a:ext cx="3367735" cy="713232"/>
          </a:xfrm>
          <a:prstGeom prst="rect">
            <a:avLst/>
          </a:prstGeom>
          <a:noFill/>
          <a:ln/>
        </p:spPr>
        <p:txBody>
          <a:bodyPr wrap="square" lIns="0" tIns="0" rIns="0" bIns="0" rtlCol="0" anchor="t"/>
          <a:lstStyle/>
          <a:p>
            <a:pPr indent="0" marL="0">
              <a:buNone/>
            </a:pPr>
            <a:r>
              <a:rPr lang="en-US" sz="1300" dirty="0">
                <a:solidFill>
                  <a:srgbClr val="5F6675"/>
                </a:solidFill>
              </a:rPr>
              <a:t>proofpath-8r5b.onrender.com, Docker image with PostgreSQL, auto-deployed from main</a:t>
            </a:r>
            <a:endParaRPr lang="en-US" sz="1300" dirty="0"/>
          </a:p>
        </p:txBody>
      </p:sp>
      <p:sp>
        <p:nvSpPr>
          <p:cNvPr id="9" name="Callout 2"/>
          <p:cNvSpPr/>
          <p:nvPr/>
        </p:nvSpPr>
        <p:spPr>
          <a:xfrm>
            <a:off x="7726680" y="3127248"/>
            <a:ext cx="3916375" cy="1298448"/>
          </a:xfrm>
          <a:prstGeom prst="roundRect">
            <a:avLst>
              <a:gd name="adj" fmla="val 8451"/>
            </a:avLst>
          </a:prstGeom>
          <a:solidFill>
            <a:schemeClr val="bg2"/>
          </a:solidFill>
          <a:ln/>
          <a:effectLst>
            <a:outerShdw sx="100000" sy="100000" kx="0" ky="0" algn="bl" rotWithShape="0" blurRad="101600" dist="25400" dir="5400000">
              <a:srgbClr val="1C2230">
                <a:alpha val="12000"/>
              </a:srgbClr>
            </a:outerShdw>
          </a:effectLst>
        </p:spPr>
      </p:sp>
      <p:sp>
        <p:nvSpPr>
          <p:cNvPr id="10" name="Callout 2 title"/>
          <p:cNvSpPr txBox="1"/>
          <p:nvPr/>
        </p:nvSpPr>
        <p:spPr>
          <a:xfrm>
            <a:off x="8001000" y="3291840"/>
            <a:ext cx="3367735"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Animated dashboard</a:t>
            </a:r>
            <a:endParaRPr lang="en-US" sz="1700" dirty="0"/>
          </a:p>
        </p:txBody>
      </p:sp>
      <p:sp>
        <p:nvSpPr>
          <p:cNvPr id="11" name="Callout 2 body"/>
          <p:cNvSpPr txBox="1"/>
          <p:nvPr/>
        </p:nvSpPr>
        <p:spPr>
          <a:xfrm>
            <a:off x="8001000" y="3657600"/>
            <a:ext cx="3367735" cy="713232"/>
          </a:xfrm>
          <a:prstGeom prst="rect">
            <a:avLst/>
          </a:prstGeom>
          <a:noFill/>
          <a:ln/>
        </p:spPr>
        <p:txBody>
          <a:bodyPr wrap="square" lIns="0" tIns="0" rIns="0" bIns="0" rtlCol="0" anchor="t"/>
          <a:lstStyle/>
          <a:p>
            <a:pPr indent="0" marL="0">
              <a:buNone/>
            </a:pPr>
            <a:r>
              <a:rPr lang="en-US" sz="1300" dirty="0">
                <a:solidFill>
                  <a:srgbClr val="5F6675"/>
                </a:solidFill>
              </a:rPr>
              <a:t>Loop tracker, readiness ring, cited evidence cards and a live “Improved” moment</a:t>
            </a:r>
            <a:endParaRPr lang="en-US" sz="1300" dirty="0"/>
          </a:p>
        </p:txBody>
      </p:sp>
      <p:sp>
        <p:nvSpPr>
          <p:cNvPr id="12" name="Callout 3"/>
          <p:cNvSpPr/>
          <p:nvPr/>
        </p:nvSpPr>
        <p:spPr>
          <a:xfrm>
            <a:off x="7726680" y="4608576"/>
            <a:ext cx="3916375" cy="1298448"/>
          </a:xfrm>
          <a:prstGeom prst="roundRect">
            <a:avLst>
              <a:gd name="adj" fmla="val 8451"/>
            </a:avLst>
          </a:prstGeom>
          <a:solidFill>
            <a:schemeClr val="bg2"/>
          </a:solidFill>
          <a:ln/>
          <a:effectLst>
            <a:outerShdw sx="100000" sy="100000" kx="0" ky="0" algn="bl" rotWithShape="0" blurRad="101600" dist="25400" dir="5400000">
              <a:srgbClr val="1C2230">
                <a:alpha val="12000"/>
              </a:srgbClr>
            </a:outerShdw>
          </a:effectLst>
        </p:spPr>
      </p:sp>
      <p:sp>
        <p:nvSpPr>
          <p:cNvPr id="13" name="Callout 3 title"/>
          <p:cNvSpPr txBox="1"/>
          <p:nvPr/>
        </p:nvSpPr>
        <p:spPr>
          <a:xfrm>
            <a:off x="8001000" y="4773168"/>
            <a:ext cx="3367735" cy="347472"/>
          </a:xfrm>
          <a:prstGeom prst="rect">
            <a:avLst/>
          </a:prstGeom>
          <a:noFill/>
          <a:ln/>
        </p:spPr>
        <p:txBody>
          <a:bodyPr wrap="square" lIns="0" tIns="0" rIns="0" bIns="0" rtlCol="0" anchor="t"/>
          <a:lstStyle/>
          <a:p>
            <a:pPr indent="0" marL="0">
              <a:buNone/>
            </a:pPr>
            <a:r>
              <a:rPr lang="en-US" sz="1700" b="1" dirty="0">
                <a:solidFill>
                  <a:schemeClr val="tx1"/>
                </a:solidFill>
                <a:latin typeface="Arial" pitchFamily="34" charset="0"/>
                <a:ea typeface="Arial" pitchFamily="34" charset="-122"/>
                <a:cs typeface="Arial" pitchFamily="34" charset="-120"/>
              </a:rPr>
              <a:t>AI on by default</a:t>
            </a:r>
            <a:endParaRPr lang="en-US" sz="1700" dirty="0"/>
          </a:p>
        </p:txBody>
      </p:sp>
      <p:sp>
        <p:nvSpPr>
          <p:cNvPr id="14" name="Callout 3 body"/>
          <p:cNvSpPr txBox="1"/>
          <p:nvPr/>
        </p:nvSpPr>
        <p:spPr>
          <a:xfrm>
            <a:off x="8001000" y="5138928"/>
            <a:ext cx="3367735" cy="713232"/>
          </a:xfrm>
          <a:prstGeom prst="rect">
            <a:avLst/>
          </a:prstGeom>
          <a:noFill/>
          <a:ln/>
        </p:spPr>
        <p:txBody>
          <a:bodyPr wrap="square" lIns="0" tIns="0" rIns="0" bIns="0" rtlCol="0" anchor="t"/>
          <a:lstStyle/>
          <a:p>
            <a:pPr indent="0" marL="0">
              <a:buNone/>
            </a:pPr>
            <a:r>
              <a:rPr lang="en-US" sz="1300" dirty="0">
                <a:solidFill>
                  <a:srgbClr val="5F6675"/>
                </a:solidFill>
              </a:rPr>
              <a:t>Groq openai/gpt-oss-120b, swappable to Gemini or Claude with one variable</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B919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09 · ENGINEERING</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indent="0" marL="0">
              <a:buNone/>
            </a:pPr>
            <a:r>
              <a:rPr lang="en-US" sz="3200" b="1" dirty="0">
                <a:solidFill>
                  <a:schemeClr val="tx1"/>
                </a:solidFill>
              </a:rPr>
              <a:t>Built to be checked, not just demoed</a:t>
            </a:r>
            <a:endParaRPr lang="en-US" sz="3200" dirty="0"/>
          </a:p>
        </p:txBody>
      </p:sp>
      <p:sp>
        <p:nvSpPr>
          <p:cNvPr id="4" name="Stat 1"/>
          <p:cNvSpPr/>
          <p:nvPr/>
        </p:nvSpPr>
        <p:spPr>
          <a:xfrm>
            <a:off x="548640" y="1691640"/>
            <a:ext cx="3515258" cy="1783080"/>
          </a:xfrm>
          <a:prstGeom prst="roundRect">
            <a:avLst>
              <a:gd name="adj" fmla="val 6154"/>
            </a:avLst>
          </a:prstGeom>
          <a:solidFill>
            <a:schemeClr val="bg2"/>
          </a:solidFill>
          <a:ln/>
          <a:effectLst>
            <a:outerShdw sx="100000" sy="100000" kx="0" ky="0" algn="bl" rotWithShape="0" blurRad="101600" dist="25400" dir="5400000">
              <a:srgbClr val="1C2230">
                <a:alpha val="12000"/>
              </a:srgbClr>
            </a:outerShdw>
          </a:effectLst>
        </p:spPr>
      </p:sp>
      <p:sp>
        <p:nvSpPr>
          <p:cNvPr id="5" name="Stat 1 value"/>
          <p:cNvSpPr txBox="1"/>
          <p:nvPr/>
        </p:nvSpPr>
        <p:spPr>
          <a:xfrm>
            <a:off x="822960" y="1828800"/>
            <a:ext cx="2966618" cy="77724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13</a:t>
            </a:r>
            <a:endParaRPr lang="en-US" sz="4000" dirty="0"/>
          </a:p>
        </p:txBody>
      </p:sp>
      <p:sp>
        <p:nvSpPr>
          <p:cNvPr id="6" name="Stat 1 label"/>
          <p:cNvSpPr txBox="1"/>
          <p:nvPr/>
        </p:nvSpPr>
        <p:spPr>
          <a:xfrm>
            <a:off x="822960" y="2606040"/>
            <a:ext cx="2966618" cy="347472"/>
          </a:xfrm>
          <a:prstGeom prst="rect">
            <a:avLst/>
          </a:prstGeom>
          <a:noFill/>
          <a:ln/>
        </p:spPr>
        <p:txBody>
          <a:bodyPr wrap="square" lIns="0" tIns="0" rIns="0" bIns="0" rtlCol="0" anchor="t"/>
          <a:lstStyle/>
          <a:p>
            <a:pPr indent="0" marL="0">
              <a:buNone/>
            </a:pPr>
            <a:r>
              <a:rPr lang="en-US" sz="1600" b="1" dirty="0">
                <a:solidFill>
                  <a:schemeClr val="tx1"/>
                </a:solidFill>
              </a:rPr>
              <a:t>automated tests</a:t>
            </a:r>
            <a:endParaRPr lang="en-US" sz="1600" dirty="0"/>
          </a:p>
        </p:txBody>
      </p:sp>
      <p:sp>
        <p:nvSpPr>
          <p:cNvPr id="7" name="Stat 1 detail"/>
          <p:cNvSpPr txBox="1"/>
          <p:nvPr/>
        </p:nvSpPr>
        <p:spPr>
          <a:xfrm>
            <a:off x="822960" y="2953512"/>
            <a:ext cx="2966618" cy="457200"/>
          </a:xfrm>
          <a:prstGeom prst="rect">
            <a:avLst/>
          </a:prstGeom>
          <a:noFill/>
          <a:ln/>
        </p:spPr>
        <p:txBody>
          <a:bodyPr wrap="square" lIns="0" tIns="0" rIns="0" bIns="0" rtlCol="0" anchor="t"/>
          <a:lstStyle/>
          <a:p>
            <a:pPr indent="0" marL="0">
              <a:buNone/>
            </a:pPr>
            <a:r>
              <a:rPr lang="en-US" sz="1200" dirty="0">
                <a:solidFill>
                  <a:srgbClr val="5F6675"/>
                </a:solidFill>
              </a:rPr>
              <a:t>full loop, guardrails, fallbacks, persistence, secret scan</a:t>
            </a:r>
            <a:endParaRPr lang="en-US" sz="1200" dirty="0"/>
          </a:p>
        </p:txBody>
      </p:sp>
      <p:sp>
        <p:nvSpPr>
          <p:cNvPr id="8" name="Stat 2"/>
          <p:cNvSpPr/>
          <p:nvPr/>
        </p:nvSpPr>
        <p:spPr>
          <a:xfrm>
            <a:off x="4338218" y="1691640"/>
            <a:ext cx="3515258" cy="1783080"/>
          </a:xfrm>
          <a:prstGeom prst="roundRect">
            <a:avLst>
              <a:gd name="adj" fmla="val 6154"/>
            </a:avLst>
          </a:prstGeom>
          <a:solidFill>
            <a:schemeClr val="tx2"/>
          </a:solidFill>
          <a:ln/>
          <a:effectLst>
            <a:outerShdw sx="100000" sy="100000" kx="0" ky="0" algn="bl" rotWithShape="0" blurRad="101600" dist="25400" dir="5400000">
              <a:srgbClr val="1C2230">
                <a:alpha val="12000"/>
              </a:srgbClr>
            </a:outerShdw>
          </a:effectLst>
        </p:spPr>
      </p:sp>
      <p:sp>
        <p:nvSpPr>
          <p:cNvPr id="9" name="Stat 2 value"/>
          <p:cNvSpPr txBox="1"/>
          <p:nvPr/>
        </p:nvSpPr>
        <p:spPr>
          <a:xfrm>
            <a:off x="4612538" y="1828800"/>
            <a:ext cx="2966618" cy="777240"/>
          </a:xfrm>
          <a:prstGeom prst="rect">
            <a:avLst/>
          </a:prstGeom>
          <a:noFill/>
          <a:ln/>
        </p:spPr>
        <p:txBody>
          <a:bodyPr wrap="square" lIns="0" tIns="0" rIns="0" bIns="0" rtlCol="0" anchor="t"/>
          <a:lstStyle/>
          <a:p>
            <a:pPr indent="0" marL="0">
              <a:buNone/>
            </a:pPr>
            <a:r>
              <a:rPr lang="en-US" sz="4000" b="1" dirty="0">
                <a:solidFill>
                  <a:schemeClr val="accent6"/>
                </a:solidFill>
                <a:latin typeface="Arial" pitchFamily="34" charset="0"/>
                <a:ea typeface="Arial" pitchFamily="34" charset="-122"/>
                <a:cs typeface="Arial" pitchFamily="34" charset="-120"/>
              </a:rPr>
              <a:t>60 s</a:t>
            </a:r>
            <a:endParaRPr lang="en-US" sz="4000" dirty="0"/>
          </a:p>
        </p:txBody>
      </p:sp>
      <p:sp>
        <p:nvSpPr>
          <p:cNvPr id="10" name="Stat 2 label"/>
          <p:cNvSpPr txBox="1"/>
          <p:nvPr/>
        </p:nvSpPr>
        <p:spPr>
          <a:xfrm>
            <a:off x="4612538" y="2606040"/>
            <a:ext cx="2966618" cy="347472"/>
          </a:xfrm>
          <a:prstGeom prst="rect">
            <a:avLst/>
          </a:prstGeom>
          <a:noFill/>
          <a:ln/>
        </p:spPr>
        <p:txBody>
          <a:bodyPr wrap="square" lIns="0" tIns="0" rIns="0" bIns="0" rtlCol="0" anchor="t"/>
          <a:lstStyle/>
          <a:p>
            <a:pPr indent="0" marL="0">
              <a:buNone/>
            </a:pPr>
            <a:r>
              <a:rPr lang="en-US" sz="1600" b="1" dirty="0">
                <a:solidFill>
                  <a:schemeClr val="bg1"/>
                </a:solidFill>
              </a:rPr>
              <a:t>polling fallback</a:t>
            </a:r>
            <a:endParaRPr lang="en-US" sz="1600" dirty="0"/>
          </a:p>
        </p:txBody>
      </p:sp>
      <p:sp>
        <p:nvSpPr>
          <p:cNvPr id="11" name="Stat 2 detail"/>
          <p:cNvSpPr txBox="1"/>
          <p:nvPr/>
        </p:nvSpPr>
        <p:spPr>
          <a:xfrm>
            <a:off x="4612538" y="2953512"/>
            <a:ext cx="2966618" cy="457200"/>
          </a:xfrm>
          <a:prstGeom prst="rect">
            <a:avLst/>
          </a:prstGeom>
          <a:noFill/>
          <a:ln/>
        </p:spPr>
        <p:txBody>
          <a:bodyPr wrap="square" lIns="0" tIns="0" rIns="0" bIns="0" rtlCol="0" anchor="t"/>
          <a:lstStyle/>
          <a:p>
            <a:pPr indent="0" marL="0">
              <a:buNone/>
            </a:pPr>
            <a:r>
              <a:rPr lang="en-US" sz="1200" dirty="0">
                <a:solidFill>
                  <a:srgbClr val="C9D0DD"/>
                </a:solidFill>
              </a:rPr>
              <a:t>a missed webhook never breaks the loop</a:t>
            </a:r>
            <a:endParaRPr lang="en-US" sz="1200" dirty="0"/>
          </a:p>
        </p:txBody>
      </p:sp>
      <p:sp>
        <p:nvSpPr>
          <p:cNvPr id="12" name="Stat 3"/>
          <p:cNvSpPr/>
          <p:nvPr/>
        </p:nvSpPr>
        <p:spPr>
          <a:xfrm>
            <a:off x="8127797" y="1691640"/>
            <a:ext cx="3515258" cy="1783080"/>
          </a:xfrm>
          <a:prstGeom prst="roundRect">
            <a:avLst>
              <a:gd name="adj" fmla="val 6154"/>
            </a:avLst>
          </a:prstGeom>
          <a:solidFill>
            <a:schemeClr val="bg2"/>
          </a:solidFill>
          <a:ln/>
          <a:effectLst>
            <a:outerShdw sx="100000" sy="100000" kx="0" ky="0" algn="bl" rotWithShape="0" blurRad="101600" dist="25400" dir="5400000">
              <a:srgbClr val="1C2230">
                <a:alpha val="12000"/>
              </a:srgbClr>
            </a:outerShdw>
          </a:effectLst>
        </p:spPr>
      </p:sp>
      <p:sp>
        <p:nvSpPr>
          <p:cNvPr id="13" name="Stat 3 value"/>
          <p:cNvSpPr txBox="1"/>
          <p:nvPr/>
        </p:nvSpPr>
        <p:spPr>
          <a:xfrm>
            <a:off x="8402117" y="1828800"/>
            <a:ext cx="2966618" cy="77724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4 s</a:t>
            </a:r>
            <a:endParaRPr lang="en-US" sz="4000" dirty="0"/>
          </a:p>
        </p:txBody>
      </p:sp>
      <p:sp>
        <p:nvSpPr>
          <p:cNvPr id="14" name="Stat 3 label"/>
          <p:cNvSpPr txBox="1"/>
          <p:nvPr/>
        </p:nvSpPr>
        <p:spPr>
          <a:xfrm>
            <a:off x="8402117" y="2606040"/>
            <a:ext cx="2966618" cy="347472"/>
          </a:xfrm>
          <a:prstGeom prst="rect">
            <a:avLst/>
          </a:prstGeom>
          <a:noFill/>
          <a:ln/>
        </p:spPr>
        <p:txBody>
          <a:bodyPr wrap="square" lIns="0" tIns="0" rIns="0" bIns="0" rtlCol="0" anchor="t"/>
          <a:lstStyle/>
          <a:p>
            <a:pPr indent="0" marL="0">
              <a:buNone/>
            </a:pPr>
            <a:r>
              <a:rPr lang="en-US" sz="1600" b="1" dirty="0">
                <a:solidFill>
                  <a:schemeClr val="tx1"/>
                </a:solidFill>
              </a:rPr>
              <a:t>dashboard refresh</a:t>
            </a:r>
            <a:endParaRPr lang="en-US" sz="1600" dirty="0"/>
          </a:p>
        </p:txBody>
      </p:sp>
      <p:sp>
        <p:nvSpPr>
          <p:cNvPr id="15" name="Stat 3 detail"/>
          <p:cNvSpPr txBox="1"/>
          <p:nvPr/>
        </p:nvSpPr>
        <p:spPr>
          <a:xfrm>
            <a:off x="8402117" y="2953512"/>
            <a:ext cx="2966618" cy="457200"/>
          </a:xfrm>
          <a:prstGeom prst="rect">
            <a:avLst/>
          </a:prstGeom>
          <a:noFill/>
          <a:ln/>
        </p:spPr>
        <p:txBody>
          <a:bodyPr wrap="square" lIns="0" tIns="0" rIns="0" bIns="0" rtlCol="0" anchor="t"/>
          <a:lstStyle/>
          <a:p>
            <a:pPr indent="0" marL="0">
              <a:buNone/>
            </a:pPr>
            <a:r>
              <a:rPr lang="en-US" sz="1200" dirty="0">
                <a:solidFill>
                  <a:srgbClr val="5F6675"/>
                </a:solidFill>
              </a:rPr>
              <a:t>pending commits appear almost at once</a:t>
            </a:r>
            <a:endParaRPr lang="en-US" sz="1200" dirty="0"/>
          </a:p>
        </p:txBody>
      </p:sp>
      <p:sp>
        <p:nvSpPr>
          <p:cNvPr id="16" name="Stat 4"/>
          <p:cNvSpPr/>
          <p:nvPr/>
        </p:nvSpPr>
        <p:spPr>
          <a:xfrm>
            <a:off x="548640" y="3703320"/>
            <a:ext cx="3515258" cy="1783080"/>
          </a:xfrm>
          <a:prstGeom prst="roundRect">
            <a:avLst>
              <a:gd name="adj" fmla="val 6154"/>
            </a:avLst>
          </a:prstGeom>
          <a:solidFill>
            <a:schemeClr val="tx2"/>
          </a:solidFill>
          <a:ln/>
          <a:effectLst>
            <a:outerShdw sx="100000" sy="100000" kx="0" ky="0" algn="bl" rotWithShape="0" blurRad="101600" dist="25400" dir="5400000">
              <a:srgbClr val="1C2230">
                <a:alpha val="12000"/>
              </a:srgbClr>
            </a:outerShdw>
          </a:effectLst>
        </p:spPr>
      </p:sp>
      <p:sp>
        <p:nvSpPr>
          <p:cNvPr id="17" name="Stat 4 value"/>
          <p:cNvSpPr txBox="1"/>
          <p:nvPr/>
        </p:nvSpPr>
        <p:spPr>
          <a:xfrm>
            <a:off x="822960" y="3840480"/>
            <a:ext cx="2966618" cy="777240"/>
          </a:xfrm>
          <a:prstGeom prst="rect">
            <a:avLst/>
          </a:prstGeom>
          <a:noFill/>
          <a:ln/>
        </p:spPr>
        <p:txBody>
          <a:bodyPr wrap="square" lIns="0" tIns="0" rIns="0" bIns="0" rtlCol="0" anchor="t"/>
          <a:lstStyle/>
          <a:p>
            <a:pPr indent="0" marL="0">
              <a:buNone/>
            </a:pPr>
            <a:r>
              <a:rPr lang="en-US" sz="4000" b="1" dirty="0">
                <a:solidFill>
                  <a:schemeClr val="accent6"/>
                </a:solidFill>
                <a:latin typeface="Arial" pitchFamily="34" charset="0"/>
                <a:ea typeface="Arial" pitchFamily="34" charset="-122"/>
                <a:cs typeface="Arial" pitchFamily="34" charset="-120"/>
              </a:rPr>
              <a:t>~250 MB</a:t>
            </a:r>
            <a:endParaRPr lang="en-US" sz="4000" dirty="0"/>
          </a:p>
        </p:txBody>
      </p:sp>
      <p:sp>
        <p:nvSpPr>
          <p:cNvPr id="18" name="Stat 4 label"/>
          <p:cNvSpPr txBox="1"/>
          <p:nvPr/>
        </p:nvSpPr>
        <p:spPr>
          <a:xfrm>
            <a:off x="822960" y="4617720"/>
            <a:ext cx="2966618" cy="347472"/>
          </a:xfrm>
          <a:prstGeom prst="rect">
            <a:avLst/>
          </a:prstGeom>
          <a:noFill/>
          <a:ln/>
        </p:spPr>
        <p:txBody>
          <a:bodyPr wrap="square" lIns="0" tIns="0" rIns="0" bIns="0" rtlCol="0" anchor="t"/>
          <a:lstStyle/>
          <a:p>
            <a:pPr indent="0" marL="0">
              <a:buNone/>
            </a:pPr>
            <a:r>
              <a:rPr lang="en-US" sz="1600" b="1" dirty="0">
                <a:solidFill>
                  <a:schemeClr val="bg1"/>
                </a:solidFill>
              </a:rPr>
              <a:t>memory in use</a:t>
            </a:r>
            <a:endParaRPr lang="en-US" sz="1600" dirty="0"/>
          </a:p>
        </p:txBody>
      </p:sp>
      <p:sp>
        <p:nvSpPr>
          <p:cNvPr id="19" name="Stat 4 detail"/>
          <p:cNvSpPr txBox="1"/>
          <p:nvPr/>
        </p:nvSpPr>
        <p:spPr>
          <a:xfrm>
            <a:off x="822960" y="4965192"/>
            <a:ext cx="2966618" cy="457200"/>
          </a:xfrm>
          <a:prstGeom prst="rect">
            <a:avLst/>
          </a:prstGeom>
          <a:noFill/>
          <a:ln/>
        </p:spPr>
        <p:txBody>
          <a:bodyPr wrap="square" lIns="0" tIns="0" rIns="0" bIns="0" rtlCol="0" anchor="t"/>
          <a:lstStyle/>
          <a:p>
            <a:pPr indent="0" marL="0">
              <a:buNone/>
            </a:pPr>
            <a:r>
              <a:rPr lang="en-US" sz="1200" dirty="0">
                <a:solidFill>
                  <a:srgbClr val="C9D0DD"/>
                </a:solidFill>
              </a:rPr>
              <a:t>fits a free 512 MB instance</a:t>
            </a:r>
            <a:endParaRPr lang="en-US" sz="1200" dirty="0"/>
          </a:p>
        </p:txBody>
      </p:sp>
      <p:sp>
        <p:nvSpPr>
          <p:cNvPr id="20" name="Stat 5"/>
          <p:cNvSpPr/>
          <p:nvPr/>
        </p:nvSpPr>
        <p:spPr>
          <a:xfrm>
            <a:off x="4338218" y="3703320"/>
            <a:ext cx="3515258" cy="1783080"/>
          </a:xfrm>
          <a:prstGeom prst="roundRect">
            <a:avLst>
              <a:gd name="adj" fmla="val 6154"/>
            </a:avLst>
          </a:prstGeom>
          <a:solidFill>
            <a:schemeClr val="bg2"/>
          </a:solidFill>
          <a:ln/>
          <a:effectLst>
            <a:outerShdw sx="100000" sy="100000" kx="0" ky="0" algn="bl" rotWithShape="0" blurRad="101600" dist="25400" dir="5400000">
              <a:srgbClr val="1C2230">
                <a:alpha val="12000"/>
              </a:srgbClr>
            </a:outerShdw>
          </a:effectLst>
        </p:spPr>
      </p:sp>
      <p:sp>
        <p:nvSpPr>
          <p:cNvPr id="21" name="Stat 5 value"/>
          <p:cNvSpPr txBox="1"/>
          <p:nvPr/>
        </p:nvSpPr>
        <p:spPr>
          <a:xfrm>
            <a:off x="4612538" y="3840480"/>
            <a:ext cx="2966618" cy="77724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63 kB</a:t>
            </a:r>
            <a:endParaRPr lang="en-US" sz="4000" dirty="0"/>
          </a:p>
        </p:txBody>
      </p:sp>
      <p:sp>
        <p:nvSpPr>
          <p:cNvPr id="22" name="Stat 5 label"/>
          <p:cNvSpPr txBox="1"/>
          <p:nvPr/>
        </p:nvSpPr>
        <p:spPr>
          <a:xfrm>
            <a:off x="4612538" y="4617720"/>
            <a:ext cx="2966618" cy="347472"/>
          </a:xfrm>
          <a:prstGeom prst="rect">
            <a:avLst/>
          </a:prstGeom>
          <a:noFill/>
          <a:ln/>
        </p:spPr>
        <p:txBody>
          <a:bodyPr wrap="square" lIns="0" tIns="0" rIns="0" bIns="0" rtlCol="0" anchor="t"/>
          <a:lstStyle/>
          <a:p>
            <a:pPr indent="0" marL="0">
              <a:buNone/>
            </a:pPr>
            <a:r>
              <a:rPr lang="en-US" sz="1600" b="1" dirty="0">
                <a:solidFill>
                  <a:schemeClr val="tx1"/>
                </a:solidFill>
              </a:rPr>
              <a:t>first page load</a:t>
            </a:r>
            <a:endParaRPr lang="en-US" sz="1600" dirty="0"/>
          </a:p>
        </p:txBody>
      </p:sp>
      <p:sp>
        <p:nvSpPr>
          <p:cNvPr id="23" name="Stat 5 detail"/>
          <p:cNvSpPr txBox="1"/>
          <p:nvPr/>
        </p:nvSpPr>
        <p:spPr>
          <a:xfrm>
            <a:off x="4612538" y="4965192"/>
            <a:ext cx="2966618" cy="457200"/>
          </a:xfrm>
          <a:prstGeom prst="rect">
            <a:avLst/>
          </a:prstGeom>
          <a:noFill/>
          <a:ln/>
        </p:spPr>
        <p:txBody>
          <a:bodyPr wrap="square" lIns="0" tIns="0" rIns="0" bIns="0" rtlCol="0" anchor="t"/>
          <a:lstStyle/>
          <a:p>
            <a:pPr indent="0" marL="0">
              <a:buNone/>
            </a:pPr>
            <a:r>
              <a:rPr lang="en-US" sz="1200" dirty="0">
                <a:solidFill>
                  <a:srgbClr val="5F6675"/>
                </a:solidFill>
              </a:rPr>
              <a:t>gzip; animation code loads afterwards</a:t>
            </a:r>
            <a:endParaRPr lang="en-US" sz="1200" dirty="0"/>
          </a:p>
        </p:txBody>
      </p:sp>
      <p:sp>
        <p:nvSpPr>
          <p:cNvPr id="24" name="Stat 6"/>
          <p:cNvSpPr/>
          <p:nvPr/>
        </p:nvSpPr>
        <p:spPr>
          <a:xfrm>
            <a:off x="8127797" y="3703320"/>
            <a:ext cx="3515258" cy="1783080"/>
          </a:xfrm>
          <a:prstGeom prst="roundRect">
            <a:avLst>
              <a:gd name="adj" fmla="val 6154"/>
            </a:avLst>
          </a:prstGeom>
          <a:solidFill>
            <a:schemeClr val="tx2"/>
          </a:solidFill>
          <a:ln/>
          <a:effectLst>
            <a:outerShdw sx="100000" sy="100000" kx="0" ky="0" algn="bl" rotWithShape="0" blurRad="101600" dist="25400" dir="5400000">
              <a:srgbClr val="1C2230">
                <a:alpha val="12000"/>
              </a:srgbClr>
            </a:outerShdw>
          </a:effectLst>
        </p:spPr>
      </p:sp>
      <p:sp>
        <p:nvSpPr>
          <p:cNvPr id="25" name="Stat 6 value"/>
          <p:cNvSpPr txBox="1"/>
          <p:nvPr/>
        </p:nvSpPr>
        <p:spPr>
          <a:xfrm>
            <a:off x="8402117" y="3840480"/>
            <a:ext cx="2966618" cy="777240"/>
          </a:xfrm>
          <a:prstGeom prst="rect">
            <a:avLst/>
          </a:prstGeom>
          <a:noFill/>
          <a:ln/>
        </p:spPr>
        <p:txBody>
          <a:bodyPr wrap="square" lIns="0" tIns="0" rIns="0" bIns="0" rtlCol="0" anchor="t"/>
          <a:lstStyle/>
          <a:p>
            <a:pPr indent="0" marL="0">
              <a:buNone/>
            </a:pPr>
            <a:r>
              <a:rPr lang="en-US" sz="4000" b="1" dirty="0">
                <a:solidFill>
                  <a:schemeClr val="accent6"/>
                </a:solidFill>
                <a:latin typeface="Arial" pitchFamily="34" charset="0"/>
                <a:ea typeface="Arial" pitchFamily="34" charset="-122"/>
                <a:cs typeface="Arial" pitchFamily="34" charset="-120"/>
              </a:rPr>
              <a:t>80</a:t>
            </a:r>
            <a:endParaRPr lang="en-US" sz="4000" dirty="0"/>
          </a:p>
        </p:txBody>
      </p:sp>
      <p:sp>
        <p:nvSpPr>
          <p:cNvPr id="26" name="Stat 6 label"/>
          <p:cNvSpPr txBox="1"/>
          <p:nvPr/>
        </p:nvSpPr>
        <p:spPr>
          <a:xfrm>
            <a:off x="8402117" y="4617720"/>
            <a:ext cx="2966618" cy="347472"/>
          </a:xfrm>
          <a:prstGeom prst="rect">
            <a:avLst/>
          </a:prstGeom>
          <a:noFill/>
          <a:ln/>
        </p:spPr>
        <p:txBody>
          <a:bodyPr wrap="square" lIns="0" tIns="0" rIns="0" bIns="0" rtlCol="0" anchor="t"/>
          <a:lstStyle/>
          <a:p>
            <a:pPr indent="0" marL="0">
              <a:buNone/>
            </a:pPr>
            <a:r>
              <a:rPr lang="en-US" sz="1600" b="1" dirty="0">
                <a:solidFill>
                  <a:schemeClr val="bg1"/>
                </a:solidFill>
              </a:rPr>
              <a:t>files per scan</a:t>
            </a:r>
            <a:endParaRPr lang="en-US" sz="1600" dirty="0"/>
          </a:p>
        </p:txBody>
      </p:sp>
      <p:sp>
        <p:nvSpPr>
          <p:cNvPr id="27" name="Stat 6 detail"/>
          <p:cNvSpPr txBox="1"/>
          <p:nvPr/>
        </p:nvSpPr>
        <p:spPr>
          <a:xfrm>
            <a:off x="8402117" y="4965192"/>
            <a:ext cx="2966618" cy="457200"/>
          </a:xfrm>
          <a:prstGeom prst="rect">
            <a:avLst/>
          </a:prstGeom>
          <a:noFill/>
          <a:ln/>
        </p:spPr>
        <p:txBody>
          <a:bodyPr wrap="square" lIns="0" tIns="0" rIns="0" bIns="0" rtlCol="0" anchor="t"/>
          <a:lstStyle/>
          <a:p>
            <a:pPr indent="0" marL="0">
              <a:buNone/>
            </a:pPr>
            <a:r>
              <a:rPr lang="en-US" sz="1200" dirty="0">
                <a:solidFill>
                  <a:srgbClr val="C9D0DD"/>
                </a:solidFill>
              </a:rPr>
              <a:t>coverage and skipped files always shown</a:t>
            </a:r>
            <a:endParaRPr lang="en-US" sz="1200" dirty="0"/>
          </a:p>
        </p:txBody>
      </p:sp>
      <p:sp>
        <p:nvSpPr>
          <p:cNvPr id="28" name="Stack"/>
          <p:cNvSpPr txBox="1"/>
          <p:nvPr/>
        </p:nvSpPr>
        <p:spPr>
          <a:xfrm>
            <a:off x="548640" y="5806440"/>
            <a:ext cx="11094415" cy="365760"/>
          </a:xfrm>
          <a:prstGeom prst="rect">
            <a:avLst/>
          </a:prstGeom>
          <a:noFill/>
          <a:ln/>
        </p:spPr>
        <p:txBody>
          <a:bodyPr wrap="square" lIns="0" tIns="0" rIns="0" bIns="0" rtlCol="0" anchor="t"/>
          <a:lstStyle/>
          <a:p>
            <a:pPr algn="l" indent="0" marL="0">
              <a:buNone/>
            </a:pPr>
            <a:r>
              <a:rPr lang="en-US" sz="1400" dirty="0">
                <a:solidFill>
                  <a:srgbClr val="5F6675"/>
                </a:solidFill>
              </a:rPr>
              <a:t>Java 17 · Spring Boot 4.1 · React 18 · Vite 5 · Framer Motion · PostgreSQL · Groq / Gemini / Claude · Docker · Render</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B919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10 · DEMO</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indent="0" marL="0">
              <a:buNone/>
            </a:pPr>
            <a:r>
              <a:rPr lang="en-US" sz="3200" b="1" dirty="0">
                <a:solidFill>
                  <a:schemeClr val="tx1"/>
                </a:solidFill>
              </a:rPr>
              <a:t>Five-minute demo plan</a:t>
            </a:r>
            <a:endParaRPr lang="en-US" sz="3200" dirty="0"/>
          </a:p>
        </p:txBody>
      </p:sp>
      <p:graphicFrame>
        <p:nvGraphicFramePr>
          <p:cNvPr id="12" name="Demo plan 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645920"/>
                <a:gridCol w="4206240"/>
                <a:gridCol w="5242255"/>
              </a:tblGrid>
              <a:tr h="566928">
                <a:tc>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TIME</a:t>
                      </a:r>
                      <a:endParaRPr lang="en-US" sz="1200" dirty="0">
                        <a:latin typeface="Courier New" charset="0"/>
                        <a:ea typeface="Courier New" charset="0"/>
                        <a:cs typeface="Courier New"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SHOW</a:t>
                      </a:r>
                      <a:endParaRPr lang="en-US" sz="1200" dirty="0">
                        <a:latin typeface="Courier New" charset="0"/>
                        <a:ea typeface="Courier New" charset="0"/>
                        <a:cs typeface="Courier New"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SAY</a:t>
                      </a:r>
                      <a:endParaRPr lang="en-US" sz="1200" dirty="0">
                        <a:latin typeface="Courier New" charset="0"/>
                        <a:ea typeface="Courier New" charset="0"/>
                        <a:cs typeface="Courier New"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0:00–0:30</a:t>
                      </a:r>
                      <a:endParaRPr lang="en-US" sz="1400" dirty="0">
                        <a:latin typeface="Courier New" charset="0"/>
                        <a:ea typeface="Courier New" charset="0"/>
                        <a:cs typeface="Courier New"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Landing page and the loop tracker</a:t>
                      </a:r>
                      <a:endParaRPr lang="en-US" sz="1400" dirty="0">
                        <a:latin typeface="Calibri" charset="0"/>
                        <a:ea typeface="Calibri" charset="0"/>
                        <a:cs typeface="Calibri"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“Resumes make claims. ProofPath shows proof.”</a:t>
                      </a:r>
                      <a:endParaRPr lang="en-US" sz="1400" dirty="0">
                        <a:latin typeface="Calibri" charset="0"/>
                        <a:ea typeface="Calibri" charset="0"/>
                        <a:cs typeface="Calibri"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0:30–1:15</a:t>
                      </a:r>
                      <a:endParaRPr lang="en-US" sz="1400" dirty="0">
                        <a:latin typeface="Courier New" charset="0"/>
                        <a:ea typeface="Courier New" charset="0"/>
                        <a:cs typeface="Courier New"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Paste a real posting</a:t>
                      </a:r>
                      <a:endParaRPr lang="en-US" sz="1400" dirty="0">
                        <a:latin typeface="Calibri" charset="0"/>
                        <a:ea typeface="Calibri" charset="0"/>
                        <a:cs typeface="Calibri"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Open the source; point at each quoted phrase</a:t>
                      </a:r>
                      <a:endParaRPr lang="en-US" sz="1400" dirty="0">
                        <a:latin typeface="Calibri" charset="0"/>
                        <a:ea typeface="Calibri" charset="0"/>
                        <a:cs typeface="Calibri"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1:15–2:15</a:t>
                      </a:r>
                      <a:endParaRPr lang="en-US" sz="1400" dirty="0">
                        <a:latin typeface="Courier New" charset="0"/>
                        <a:ea typeface="Courier New" charset="0"/>
                        <a:cs typeface="Courier New"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Assess: ring, cards, summary</a:t>
                      </a:r>
                      <a:endParaRPr lang="en-US" sz="1400" dirty="0">
                        <a:latin typeface="Calibri" charset="0"/>
                        <a:ea typeface="Calibri" charset="0"/>
                        <a:cs typeface="Calibri"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Open a cited file at the exact commit and line</a:t>
                      </a:r>
                      <a:endParaRPr lang="en-US" sz="1400" dirty="0">
                        <a:latin typeface="Calibri" charset="0"/>
                        <a:ea typeface="Calibri" charset="0"/>
                        <a:cs typeface="Calibri"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2:15–2:45</a:t>
                      </a:r>
                      <a:endParaRPr lang="en-US" sz="1400" dirty="0">
                        <a:latin typeface="Courier New" charset="0"/>
                        <a:ea typeface="Courier New" charset="0"/>
                        <a:cs typeface="Courier New"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The SQL gap</a:t>
                      </a:r>
                      <a:endParaRPr lang="en-US" sz="1400" dirty="0">
                        <a:latin typeface="Calibri" charset="0"/>
                        <a:ea typeface="Calibri" charset="0"/>
                        <a:cs typeface="Calibri"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“Not shown in this repository, not a missing skill”</a:t>
                      </a:r>
                      <a:endParaRPr lang="en-US" sz="1400" dirty="0">
                        <a:latin typeface="Calibri" charset="0"/>
                        <a:ea typeface="Calibri" charset="0"/>
                        <a:cs typeface="Calibri"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1"/>
                    </a:solidFill>
                  </a:tcPr>
                </a:tc>
              </a:tr>
              <a:tr h="56692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2:45–4:15</a:t>
                      </a:r>
                      <a:endParaRPr lang="en-US" sz="1400" dirty="0">
                        <a:latin typeface="Courier New" charset="0"/>
                        <a:ea typeface="Courier New" charset="0"/>
                        <a:cs typeface="Courier New"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Watch, then push queries/applications.sql</a:t>
                      </a:r>
                      <a:endParaRPr lang="en-US" sz="1400" dirty="0">
                        <a:latin typeface="Calibri" charset="0"/>
                        <a:ea typeface="Calibri" charset="0"/>
                        <a:cs typeface="Calibri"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Tracker shows reassessing; SQL turns Demonstrated</a:t>
                      </a:r>
                      <a:endParaRPr lang="en-US" sz="1400" dirty="0">
                        <a:latin typeface="Calibri" charset="0"/>
                        <a:ea typeface="Calibri" charset="0"/>
                        <a:cs typeface="Calibri"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4:15–5:00</a:t>
                      </a:r>
                      <a:endParaRPr lang="en-US" sz="1400" dirty="0">
                        <a:latin typeface="Courier New" charset="0"/>
                        <a:ea typeface="Courier New" charset="0"/>
                        <a:cs typeface="Courier New"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Architecture and guardrails</a:t>
                      </a:r>
                      <a:endParaRPr lang="en-US" sz="1400" dirty="0">
                        <a:latin typeface="Calibri" charset="0"/>
                        <a:ea typeface="Calibri" charset="0"/>
                        <a:cs typeface="Calibri"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Verified citations, polling fallback, history</a:t>
                      </a:r>
                      <a:endParaRPr lang="en-US" sz="1400" dirty="0">
                        <a:latin typeface="Calibri" charset="0"/>
                        <a:ea typeface="Calibri" charset="0"/>
                        <a:cs typeface="Calibri" charset="0"/>
                      </a:endParaRPr>
                    </a:p>
                  </a:txBody>
                  <a:tcPr marL="137160" marR="137160" marT="54864" marB="54864" anchor="ctr">
                    <a:lnL w="9525" cap="flat" cmpd="sng" algn="ctr">
                      <a:solidFill>
                        <a:srgbClr val="D9DCE2"/>
                      </a:solidFill>
                      <a:prstDash val="solid"/>
                      <a:round/>
                      <a:headEnd type="none" w="med" len="med"/>
                      <a:tailEnd type="none" w="med" len="med"/>
                    </a:lnL>
                    <a:lnR w="9525" cap="flat" cmpd="sng" algn="ctr">
                      <a:solidFill>
                        <a:srgbClr val="D9DCE2"/>
                      </a:solidFill>
                      <a:prstDash val="solid"/>
                      <a:round/>
                      <a:headEnd type="none" w="med" len="med"/>
                      <a:tailEnd type="none" w="med" len="med"/>
                    </a:lnR>
                    <a:lnT w="9525" cap="flat" cmpd="sng" algn="ctr">
                      <a:solidFill>
                        <a:srgbClr val="D9DCE2"/>
                      </a:solidFill>
                      <a:prstDash val="solid"/>
                      <a:round/>
                      <a:headEnd type="none" w="med" len="med"/>
                      <a:tailEnd type="none" w="med" len="med"/>
                    </a:lnT>
                    <a:lnB w="9525" cap="flat" cmpd="sng" algn="ctr">
                      <a:solidFill>
                        <a:srgbClr val="D9DCE2"/>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B919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200" b="1" spc="200" kern="0" dirty="0">
                <a:solidFill>
                  <a:schemeClr val="accent1"/>
                </a:solidFill>
                <a:latin typeface="Courier New" pitchFamily="34" charset="0"/>
                <a:ea typeface="Courier New" pitchFamily="34" charset="-122"/>
                <a:cs typeface="Courier New" pitchFamily="34" charset="-120"/>
              </a:rPr>
              <a:t>11 · JUDGING</a:t>
            </a:r>
            <a:endParaRPr lang="en-US" sz="1200" dirty="0"/>
          </a:p>
        </p:txBody>
      </p:sp>
      <p:sp>
        <p:nvSpPr>
          <p:cNvPr id="3" name="Text 0"/>
          <p:cNvSpPr/>
          <p:nvPr>
            <p:ph idx="101" type="title" hasCustomPrompt="1"/>
          </p:nvPr>
        </p:nvSpPr>
        <p:spPr>
          <a:xfrm>
            <a:off x="548640" y="676656"/>
            <a:ext cx="11094415" cy="731520"/>
          </a:xfrm>
          <a:prstGeom prst="rect">
            <a:avLst/>
          </a:prstGeom>
          <a:noFill/>
          <a:ln/>
        </p:spPr>
        <p:txBody>
          <a:bodyPr wrap="square" lIns="0" tIns="0" rIns="0" bIns="0" rtlCol="0" anchor="t"/>
          <a:lstStyle/>
          <a:p>
            <a:pPr indent="0" marL="0">
              <a:buNone/>
            </a:pPr>
            <a:r>
              <a:rPr lang="en-US" sz="3200" b="1" dirty="0">
                <a:solidFill>
                  <a:schemeClr val="tx1"/>
                </a:solidFill>
              </a:rPr>
              <a:t>Where each criterion is earned</a:t>
            </a:r>
            <a:endParaRPr lang="en-US" sz="3200" dirty="0"/>
          </a:p>
        </p:txBody>
      </p:sp>
      <p:sp>
        <p:nvSpPr>
          <p:cNvPr id="4" name="Functional completeness card"/>
          <p:cNvSpPr/>
          <p:nvPr/>
        </p:nvSpPr>
        <p:spPr>
          <a:xfrm>
            <a:off x="548640" y="1691640"/>
            <a:ext cx="5410048" cy="1965960"/>
          </a:xfrm>
          <a:prstGeom prst="roundRect">
            <a:avLst>
              <a:gd name="adj" fmla="val 5581"/>
            </a:avLst>
          </a:prstGeom>
          <a:solidFill>
            <a:schemeClr val="tx2"/>
          </a:solidFill>
          <a:ln/>
          <a:effectLst>
            <a:outerShdw sx="100000" sy="100000" kx="0" ky="0" algn="bl" rotWithShape="0" blurRad="101600" dist="25400" dir="5400000">
              <a:srgbClr val="1C2230">
                <a:alpha val="12000"/>
              </a:srgbClr>
            </a:outerShdw>
          </a:effectLst>
        </p:spPr>
      </p:sp>
      <p:sp>
        <p:nvSpPr>
          <p:cNvPr id="5" name="Functional completeness circle"/>
          <p:cNvSpPr/>
          <p:nvPr/>
        </p:nvSpPr>
        <p:spPr>
          <a:xfrm>
            <a:off x="822960" y="1965960"/>
            <a:ext cx="457200" cy="457200"/>
          </a:xfrm>
          <a:prstGeom prst="ellipse">
            <a:avLst/>
          </a:prstGeom>
          <a:solidFill>
            <a:schemeClr val="accent6"/>
          </a:solidFill>
          <a:ln w="12700">
            <a:solidFill>
              <a:schemeClr val="accent6"/>
            </a:solidFill>
            <a:prstDash val="solid"/>
          </a:ln>
        </p:spPr>
      </p:sp>
      <p:sp>
        <p:nvSpPr>
          <p:cNvPr id="6" name="Functional completeness number"/>
          <p:cNvSpPr txBox="1"/>
          <p:nvPr/>
        </p:nvSpPr>
        <p:spPr>
          <a:xfrm>
            <a:off x="822960" y="196596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latin typeface="Courier New" pitchFamily="34" charset="0"/>
                <a:ea typeface="Courier New" pitchFamily="34" charset="-122"/>
                <a:cs typeface="Courier New" pitchFamily="34" charset="-120"/>
              </a:rPr>
              <a:t>1</a:t>
            </a:r>
            <a:endParaRPr lang="en-US" sz="1400" dirty="0"/>
          </a:p>
        </p:txBody>
      </p:sp>
      <p:sp>
        <p:nvSpPr>
          <p:cNvPr id="7" name="Functional completeness title"/>
          <p:cNvSpPr txBox="1"/>
          <p:nvPr/>
        </p:nvSpPr>
        <p:spPr>
          <a:xfrm>
            <a:off x="1463040" y="1984248"/>
            <a:ext cx="4221328" cy="4114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Functional completeness</a:t>
            </a:r>
            <a:endParaRPr lang="en-US" sz="2000" dirty="0"/>
          </a:p>
        </p:txBody>
      </p:sp>
      <p:sp>
        <p:nvSpPr>
          <p:cNvPr id="8" name="Functional completeness body"/>
          <p:cNvSpPr txBox="1"/>
          <p:nvPr/>
        </p:nvSpPr>
        <p:spPr>
          <a:xfrm>
            <a:off x="822960" y="2606040"/>
            <a:ext cx="4861408" cy="914400"/>
          </a:xfrm>
          <a:prstGeom prst="rect">
            <a:avLst/>
          </a:prstGeom>
          <a:noFill/>
          <a:ln/>
        </p:spPr>
        <p:txBody>
          <a:bodyPr wrap="square" lIns="0" tIns="0" rIns="0" bIns="0" rtlCol="0" anchor="t"/>
          <a:lstStyle/>
          <a:p>
            <a:pPr indent="0" marL="0">
              <a:buNone/>
            </a:pPr>
            <a:r>
              <a:rPr lang="en-US" sz="1500" dirty="0">
                <a:solidFill>
                  <a:srgbClr val="C9D0DD"/>
                </a:solidFill>
              </a:rPr>
              <a:t>Real posting with source link → cited evidence → explained gaps → real push → automatic reassessment, live on the deployed site.</a:t>
            </a:r>
            <a:endParaRPr lang="en-US" sz="1500" dirty="0"/>
          </a:p>
        </p:txBody>
      </p:sp>
      <p:sp>
        <p:nvSpPr>
          <p:cNvPr id="9" name="Quality of execution card"/>
          <p:cNvSpPr/>
          <p:nvPr/>
        </p:nvSpPr>
        <p:spPr>
          <a:xfrm>
            <a:off x="6233008" y="1691640"/>
            <a:ext cx="5410048" cy="1965960"/>
          </a:xfrm>
          <a:prstGeom prst="roundRect">
            <a:avLst>
              <a:gd name="adj" fmla="val 5581"/>
            </a:avLst>
          </a:prstGeom>
          <a:solidFill>
            <a:schemeClr val="bg2"/>
          </a:solidFill>
          <a:ln/>
          <a:effectLst>
            <a:outerShdw sx="100000" sy="100000" kx="0" ky="0" algn="bl" rotWithShape="0" blurRad="101600" dist="25400" dir="5400000">
              <a:srgbClr val="1C2230">
                <a:alpha val="12000"/>
              </a:srgbClr>
            </a:outerShdw>
          </a:effectLst>
        </p:spPr>
      </p:sp>
      <p:sp>
        <p:nvSpPr>
          <p:cNvPr id="10" name="Quality of execution circle"/>
          <p:cNvSpPr/>
          <p:nvPr/>
        </p:nvSpPr>
        <p:spPr>
          <a:xfrm>
            <a:off x="6507328" y="1965960"/>
            <a:ext cx="457200" cy="457200"/>
          </a:xfrm>
          <a:prstGeom prst="ellipse">
            <a:avLst/>
          </a:prstGeom>
          <a:solidFill>
            <a:schemeClr val="accent1"/>
          </a:solidFill>
          <a:ln w="12700">
            <a:solidFill>
              <a:schemeClr val="accent1"/>
            </a:solidFill>
            <a:prstDash val="solid"/>
          </a:ln>
        </p:spPr>
      </p:sp>
      <p:sp>
        <p:nvSpPr>
          <p:cNvPr id="11" name="Quality of execution number"/>
          <p:cNvSpPr txBox="1"/>
          <p:nvPr/>
        </p:nvSpPr>
        <p:spPr>
          <a:xfrm>
            <a:off x="6507328" y="19659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2</a:t>
            </a:r>
            <a:endParaRPr lang="en-US" sz="1400" dirty="0"/>
          </a:p>
        </p:txBody>
      </p:sp>
      <p:sp>
        <p:nvSpPr>
          <p:cNvPr id="12" name="Quality of execution title"/>
          <p:cNvSpPr txBox="1"/>
          <p:nvPr/>
        </p:nvSpPr>
        <p:spPr>
          <a:xfrm>
            <a:off x="7147408" y="1984248"/>
            <a:ext cx="4221328"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Quality of execution</a:t>
            </a:r>
            <a:endParaRPr lang="en-US" sz="2000" dirty="0"/>
          </a:p>
        </p:txBody>
      </p:sp>
      <p:sp>
        <p:nvSpPr>
          <p:cNvPr id="13" name="Quality of execution body"/>
          <p:cNvSpPr txBox="1"/>
          <p:nvPr/>
        </p:nvSpPr>
        <p:spPr>
          <a:xfrm>
            <a:off x="6507328" y="2606040"/>
            <a:ext cx="4861408" cy="914400"/>
          </a:xfrm>
          <a:prstGeom prst="rect">
            <a:avLst/>
          </a:prstGeom>
          <a:noFill/>
          <a:ln/>
        </p:spPr>
        <p:txBody>
          <a:bodyPr wrap="square" lIns="0" tIns="0" rIns="0" bIns="0" rtlCol="0" anchor="t"/>
          <a:lstStyle/>
          <a:p>
            <a:pPr indent="0" marL="0">
              <a:buNone/>
            </a:pPr>
            <a:r>
              <a:rPr lang="en-US" sz="1500" dirty="0">
                <a:solidFill>
                  <a:srgbClr val="5F6675"/>
                </a:solidFill>
              </a:rPr>
              <a:t>Commit-pinned permalinks, HMAC-verified webhooks with polling fallback, PostgreSQL, 13 tests, Docker deployment.</a:t>
            </a:r>
            <a:endParaRPr lang="en-US" sz="1500" dirty="0"/>
          </a:p>
        </p:txBody>
      </p:sp>
      <p:sp>
        <p:nvSpPr>
          <p:cNvPr id="14" name="Thought card"/>
          <p:cNvSpPr/>
          <p:nvPr/>
        </p:nvSpPr>
        <p:spPr>
          <a:xfrm>
            <a:off x="548640" y="3931920"/>
            <a:ext cx="5410048" cy="1965960"/>
          </a:xfrm>
          <a:prstGeom prst="roundRect">
            <a:avLst>
              <a:gd name="adj" fmla="val 5581"/>
            </a:avLst>
          </a:prstGeom>
          <a:solidFill>
            <a:schemeClr val="bg2"/>
          </a:solidFill>
          <a:ln/>
          <a:effectLst>
            <a:outerShdw sx="100000" sy="100000" kx="0" ky="0" algn="bl" rotWithShape="0" blurRad="101600" dist="25400" dir="5400000">
              <a:srgbClr val="1C2230">
                <a:alpha val="12000"/>
              </a:srgbClr>
            </a:outerShdw>
          </a:effectLst>
        </p:spPr>
      </p:sp>
      <p:sp>
        <p:nvSpPr>
          <p:cNvPr id="15" name="Thought circle"/>
          <p:cNvSpPr/>
          <p:nvPr/>
        </p:nvSpPr>
        <p:spPr>
          <a:xfrm>
            <a:off x="822960" y="4206240"/>
            <a:ext cx="457200" cy="457200"/>
          </a:xfrm>
          <a:prstGeom prst="ellipse">
            <a:avLst/>
          </a:prstGeom>
          <a:solidFill>
            <a:schemeClr val="accent1"/>
          </a:solidFill>
          <a:ln w="12700">
            <a:solidFill>
              <a:schemeClr val="accent1"/>
            </a:solidFill>
            <a:prstDash val="solid"/>
          </a:ln>
        </p:spPr>
      </p:sp>
      <p:sp>
        <p:nvSpPr>
          <p:cNvPr id="16" name="Thought number"/>
          <p:cNvSpPr txBox="1"/>
          <p:nvPr/>
        </p:nvSpPr>
        <p:spPr>
          <a:xfrm>
            <a:off x="822960" y="4206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3</a:t>
            </a:r>
            <a:endParaRPr lang="en-US" sz="1400" dirty="0"/>
          </a:p>
        </p:txBody>
      </p:sp>
      <p:sp>
        <p:nvSpPr>
          <p:cNvPr id="17" name="Thought title"/>
          <p:cNvSpPr txBox="1"/>
          <p:nvPr/>
        </p:nvSpPr>
        <p:spPr>
          <a:xfrm>
            <a:off x="1463040" y="4224528"/>
            <a:ext cx="4221328"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Thought</a:t>
            </a:r>
            <a:endParaRPr lang="en-US" sz="2000" dirty="0"/>
          </a:p>
        </p:txBody>
      </p:sp>
      <p:sp>
        <p:nvSpPr>
          <p:cNvPr id="18" name="Thought body"/>
          <p:cNvSpPr txBox="1"/>
          <p:nvPr/>
        </p:nvSpPr>
        <p:spPr>
          <a:xfrm>
            <a:off x="822960" y="4846320"/>
            <a:ext cx="4861408" cy="914400"/>
          </a:xfrm>
          <a:prstGeom prst="rect">
            <a:avLst/>
          </a:prstGeom>
          <a:noFill/>
          <a:ln/>
        </p:spPr>
        <p:txBody>
          <a:bodyPr wrap="square" lIns="0" tIns="0" rIns="0" bIns="0" rtlCol="0" anchor="t"/>
          <a:lstStyle/>
          <a:p>
            <a:pPr indent="0" marL="0">
              <a:buNone/>
            </a:pPr>
            <a:r>
              <a:rPr lang="en-US" sz="1500" dirty="0">
                <a:solidFill>
                  <a:srgbClr val="5F6675"/>
                </a:solidFill>
              </a:rPr>
              <a:t>Scoped absence, guardrails against invented evidence, visible rejected signals, coverage reporting, honest fallback labels.</a:t>
            </a:r>
            <a:endParaRPr lang="en-US" sz="1500" dirty="0"/>
          </a:p>
        </p:txBody>
      </p:sp>
      <p:sp>
        <p:nvSpPr>
          <p:cNvPr id="19" name="Effort &amp; creativity card"/>
          <p:cNvSpPr/>
          <p:nvPr/>
        </p:nvSpPr>
        <p:spPr>
          <a:xfrm>
            <a:off x="6233008" y="3931920"/>
            <a:ext cx="5410048" cy="1965960"/>
          </a:xfrm>
          <a:prstGeom prst="roundRect">
            <a:avLst>
              <a:gd name="adj" fmla="val 5581"/>
            </a:avLst>
          </a:prstGeom>
          <a:solidFill>
            <a:schemeClr val="tx2"/>
          </a:solidFill>
          <a:ln/>
          <a:effectLst>
            <a:outerShdw sx="100000" sy="100000" kx="0" ky="0" algn="bl" rotWithShape="0" blurRad="101600" dist="25400" dir="5400000">
              <a:srgbClr val="1C2230">
                <a:alpha val="12000"/>
              </a:srgbClr>
            </a:outerShdw>
          </a:effectLst>
        </p:spPr>
      </p:sp>
      <p:sp>
        <p:nvSpPr>
          <p:cNvPr id="20" name="Effort &amp; creativity circle"/>
          <p:cNvSpPr/>
          <p:nvPr/>
        </p:nvSpPr>
        <p:spPr>
          <a:xfrm>
            <a:off x="6507328" y="4206240"/>
            <a:ext cx="457200" cy="457200"/>
          </a:xfrm>
          <a:prstGeom prst="ellipse">
            <a:avLst/>
          </a:prstGeom>
          <a:solidFill>
            <a:schemeClr val="accent6"/>
          </a:solidFill>
          <a:ln w="12700">
            <a:solidFill>
              <a:schemeClr val="accent6"/>
            </a:solidFill>
            <a:prstDash val="solid"/>
          </a:ln>
        </p:spPr>
      </p:sp>
      <p:sp>
        <p:nvSpPr>
          <p:cNvPr id="21" name="Effort &amp;amp; creativity number"/>
          <p:cNvSpPr txBox="1"/>
          <p:nvPr/>
        </p:nvSpPr>
        <p:spPr>
          <a:xfrm>
            <a:off x="6507328" y="420624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latin typeface="Courier New" pitchFamily="34" charset="0"/>
                <a:ea typeface="Courier New" pitchFamily="34" charset="-122"/>
                <a:cs typeface="Courier New" pitchFamily="34" charset="-120"/>
              </a:rPr>
              <a:t>4</a:t>
            </a:r>
            <a:endParaRPr lang="en-US" sz="1400" dirty="0"/>
          </a:p>
        </p:txBody>
      </p:sp>
      <p:sp>
        <p:nvSpPr>
          <p:cNvPr id="22" name="Effort &amp;amp; creativity title"/>
          <p:cNvSpPr txBox="1"/>
          <p:nvPr/>
        </p:nvSpPr>
        <p:spPr>
          <a:xfrm>
            <a:off x="7147408" y="4224528"/>
            <a:ext cx="4221328" cy="4114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Effort &amp; creativity</a:t>
            </a:r>
            <a:endParaRPr lang="en-US" sz="2000" dirty="0"/>
          </a:p>
        </p:txBody>
      </p:sp>
      <p:sp>
        <p:nvSpPr>
          <p:cNvPr id="23" name="Effort &amp;amp; creativity body"/>
          <p:cNvSpPr txBox="1"/>
          <p:nvPr/>
        </p:nvSpPr>
        <p:spPr>
          <a:xfrm>
            <a:off x="6507328" y="4846320"/>
            <a:ext cx="4861408" cy="914400"/>
          </a:xfrm>
          <a:prstGeom prst="rect">
            <a:avLst/>
          </a:prstGeom>
          <a:noFill/>
          <a:ln/>
        </p:spPr>
        <p:txBody>
          <a:bodyPr wrap="square" lIns="0" tIns="0" rIns="0" bIns="0" rtlCol="0" anchor="t"/>
          <a:lstStyle/>
          <a:p>
            <a:pPr indent="0" marL="0">
              <a:buNone/>
            </a:pPr>
            <a:r>
              <a:rPr lang="en-US" sz="1500" dirty="0">
                <a:solidFill>
                  <a:srgbClr val="C9D0DD"/>
                </a:solidFill>
              </a:rPr>
              <a:t>Animated glass dashboard, live loop tracker, readiness ring, guided close-the-loop panel, free swappable AI providers.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B919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1280160"/>
            <a:ext cx="11094415" cy="365760"/>
          </a:xfrm>
          <a:prstGeom prst="rect">
            <a:avLst/>
          </a:prstGeom>
          <a:noFill/>
          <a:ln/>
        </p:spPr>
        <p:txBody>
          <a:bodyPr wrap="square" lIns="0" tIns="0" rIns="0" bIns="0" rtlCol="0"/>
          <a:lstStyle/>
          <a:p>
            <a:pPr indent="0" marL="0">
              <a:buNone/>
            </a:pPr>
            <a:r>
              <a:rPr lang="en-US" sz="1200" b="1" spc="200" kern="0" dirty="0">
                <a:solidFill>
                  <a:schemeClr val="accent6"/>
                </a:solidFill>
                <a:latin typeface="Courier New" pitchFamily="34" charset="0"/>
                <a:ea typeface="Courier New" pitchFamily="34" charset="-122"/>
                <a:cs typeface="Courier New" pitchFamily="34" charset="-120"/>
              </a:rPr>
              <a:t>THANK YOU · QUESTIONS WELCOME</a:t>
            </a:r>
            <a:endParaRPr lang="en-US" sz="1200" dirty="0"/>
          </a:p>
        </p:txBody>
      </p:sp>
      <p:sp>
        <p:nvSpPr>
          <p:cNvPr id="3" name="Text 0"/>
          <p:cNvSpPr/>
          <p:nvPr>
            <p:ph idx="101" type="title" hasCustomPrompt="1"/>
          </p:nvPr>
        </p:nvSpPr>
        <p:spPr>
          <a:xfrm>
            <a:off x="548640" y="1737360"/>
            <a:ext cx="11094415" cy="1188720"/>
          </a:xfrm>
          <a:prstGeom prst="rect">
            <a:avLst/>
          </a:prstGeom>
          <a:noFill/>
          <a:ln/>
        </p:spPr>
        <p:txBody>
          <a:bodyPr wrap="square" lIns="0" tIns="0" rIns="0" bIns="0" rtlCol="0" anchor="t"/>
          <a:lstStyle/>
          <a:p>
            <a:pPr indent="0" marL="0">
              <a:buNone/>
            </a:pPr>
            <a:r>
              <a:rPr lang="en-US" sz="5400" b="1" dirty="0">
                <a:solidFill>
                  <a:schemeClr val="bg1"/>
                </a:solidFill>
              </a:rPr>
              <a:t>Proof, not claims</a:t>
            </a:r>
            <a:endParaRPr lang="en-US" sz="5400" dirty="0"/>
          </a:p>
        </p:txBody>
      </p:sp>
      <p:sp>
        <p:nvSpPr>
          <p:cNvPr id="4" name="Try it live card"/>
          <p:cNvSpPr/>
          <p:nvPr/>
        </p:nvSpPr>
        <p:spPr>
          <a:xfrm>
            <a:off x="548640" y="3291840"/>
            <a:ext cx="7498080" cy="685800"/>
          </a:xfrm>
          <a:prstGeom prst="roundRect">
            <a:avLst>
              <a:gd name="adj" fmla="val 16000"/>
            </a:avLst>
          </a:prstGeom>
          <a:solidFill>
            <a:srgbClr val="2B3448"/>
          </a:solidFill>
          <a:ln/>
          <a:effectLst>
            <a:outerShdw sx="100000" sy="100000" kx="0" ky="0" algn="bl" rotWithShape="0" blurRad="101600" dist="25400" dir="5400000">
              <a:srgbClr val="1C2230">
                <a:alpha val="12000"/>
              </a:srgbClr>
            </a:outerShdw>
          </a:effectLst>
        </p:spPr>
      </p:sp>
      <p:sp>
        <p:nvSpPr>
          <p:cNvPr id="5" name="Try it live label"/>
          <p:cNvSpPr txBox="1"/>
          <p:nvPr/>
        </p:nvSpPr>
        <p:spPr>
          <a:xfrm>
            <a:off x="822960" y="3291840"/>
            <a:ext cx="2103120" cy="685800"/>
          </a:xfrm>
          <a:prstGeom prst="rect">
            <a:avLst/>
          </a:prstGeom>
          <a:noFill/>
          <a:ln/>
        </p:spPr>
        <p:txBody>
          <a:bodyPr wrap="square" lIns="0" tIns="0" rIns="0" bIns="0" rtlCol="0" anchor="ctr"/>
          <a:lstStyle/>
          <a:p>
            <a:pPr indent="0" marL="0">
              <a:buNone/>
            </a:pPr>
            <a:r>
              <a:rPr lang="en-US" sz="1200" b="1" spc="100" kern="0" dirty="0">
                <a:solidFill>
                  <a:schemeClr val="accent6"/>
                </a:solidFill>
                <a:latin typeface="Courier New" pitchFamily="34" charset="0"/>
                <a:ea typeface="Courier New" pitchFamily="34" charset="-122"/>
                <a:cs typeface="Courier New" pitchFamily="34" charset="-120"/>
              </a:rPr>
              <a:t>TRY IT LIVE</a:t>
            </a:r>
            <a:endParaRPr lang="en-US" sz="1200" dirty="0"/>
          </a:p>
        </p:txBody>
      </p:sp>
      <p:sp>
        <p:nvSpPr>
          <p:cNvPr id="6" name="Try it live value"/>
          <p:cNvSpPr txBox="1"/>
          <p:nvPr/>
        </p:nvSpPr>
        <p:spPr>
          <a:xfrm>
            <a:off x="3017520" y="3291840"/>
            <a:ext cx="4846320" cy="685800"/>
          </a:xfrm>
          <a:prstGeom prst="rect">
            <a:avLst/>
          </a:prstGeom>
          <a:noFill/>
          <a:ln/>
        </p:spPr>
        <p:txBody>
          <a:bodyPr wrap="square" lIns="0" tIns="0" rIns="0" bIns="0" rtlCol="0" anchor="ctr"/>
          <a:lstStyle/>
          <a:p>
            <a:pPr indent="0" marL="0">
              <a:buNone/>
            </a:pPr>
            <a:r>
              <a:rPr lang="en-US" sz="1800" b="1" dirty="0">
                <a:solidFill>
                  <a:schemeClr val="bg1"/>
                </a:solidFill>
              </a:rPr>
              <a:t>proofpath-8r5b.onrender.com</a:t>
            </a:r>
            <a:endParaRPr lang="en-US" sz="1800" dirty="0"/>
          </a:p>
        </p:txBody>
      </p:sp>
      <p:sp>
        <p:nvSpPr>
          <p:cNvPr id="7" name="Source code card"/>
          <p:cNvSpPr/>
          <p:nvPr/>
        </p:nvSpPr>
        <p:spPr>
          <a:xfrm>
            <a:off x="548640" y="4160520"/>
            <a:ext cx="7498080" cy="685800"/>
          </a:xfrm>
          <a:prstGeom prst="roundRect">
            <a:avLst>
              <a:gd name="adj" fmla="val 16000"/>
            </a:avLst>
          </a:prstGeom>
          <a:solidFill>
            <a:srgbClr val="2B3448"/>
          </a:solidFill>
          <a:ln/>
          <a:effectLst>
            <a:outerShdw sx="100000" sy="100000" kx="0" ky="0" algn="bl" rotWithShape="0" blurRad="101600" dist="25400" dir="5400000">
              <a:srgbClr val="1C2230">
                <a:alpha val="12000"/>
              </a:srgbClr>
            </a:outerShdw>
          </a:effectLst>
        </p:spPr>
      </p:sp>
      <p:sp>
        <p:nvSpPr>
          <p:cNvPr id="8" name="Source code label"/>
          <p:cNvSpPr txBox="1"/>
          <p:nvPr/>
        </p:nvSpPr>
        <p:spPr>
          <a:xfrm>
            <a:off x="822960" y="4160520"/>
            <a:ext cx="2103120" cy="685800"/>
          </a:xfrm>
          <a:prstGeom prst="rect">
            <a:avLst/>
          </a:prstGeom>
          <a:noFill/>
          <a:ln/>
        </p:spPr>
        <p:txBody>
          <a:bodyPr wrap="square" lIns="0" tIns="0" rIns="0" bIns="0" rtlCol="0" anchor="ctr"/>
          <a:lstStyle/>
          <a:p>
            <a:pPr indent="0" marL="0">
              <a:buNone/>
            </a:pPr>
            <a:r>
              <a:rPr lang="en-US" sz="1200" b="1" spc="100" kern="0" dirty="0">
                <a:solidFill>
                  <a:schemeClr val="accent6"/>
                </a:solidFill>
                <a:latin typeface="Courier New" pitchFamily="34" charset="0"/>
                <a:ea typeface="Courier New" pitchFamily="34" charset="-122"/>
                <a:cs typeface="Courier New" pitchFamily="34" charset="-120"/>
              </a:rPr>
              <a:t>SOURCE CODE</a:t>
            </a:r>
            <a:endParaRPr lang="en-US" sz="1200" dirty="0"/>
          </a:p>
        </p:txBody>
      </p:sp>
      <p:sp>
        <p:nvSpPr>
          <p:cNvPr id="9" name="Source code value"/>
          <p:cNvSpPr txBox="1"/>
          <p:nvPr/>
        </p:nvSpPr>
        <p:spPr>
          <a:xfrm>
            <a:off x="3017520" y="4160520"/>
            <a:ext cx="4846320" cy="685800"/>
          </a:xfrm>
          <a:prstGeom prst="rect">
            <a:avLst/>
          </a:prstGeom>
          <a:noFill/>
          <a:ln/>
        </p:spPr>
        <p:txBody>
          <a:bodyPr wrap="square" lIns="0" tIns="0" rIns="0" bIns="0" rtlCol="0" anchor="ctr"/>
          <a:lstStyle/>
          <a:p>
            <a:pPr indent="0" marL="0">
              <a:buNone/>
            </a:pPr>
            <a:r>
              <a:rPr lang="en-US" sz="1800" b="1" dirty="0">
                <a:solidFill>
                  <a:schemeClr val="bg1"/>
                </a:solidFill>
              </a:rPr>
              <a:t>github.com/deven065/JobApplication</a:t>
            </a:r>
            <a:endParaRPr lang="en-US" sz="1800" dirty="0"/>
          </a:p>
        </p:txBody>
      </p:sp>
      <p:sp>
        <p:nvSpPr>
          <p:cNvPr id="10" name="Built by card"/>
          <p:cNvSpPr/>
          <p:nvPr/>
        </p:nvSpPr>
        <p:spPr>
          <a:xfrm>
            <a:off x="548640" y="5029200"/>
            <a:ext cx="7498080" cy="685800"/>
          </a:xfrm>
          <a:prstGeom prst="roundRect">
            <a:avLst>
              <a:gd name="adj" fmla="val 16000"/>
            </a:avLst>
          </a:prstGeom>
          <a:solidFill>
            <a:srgbClr val="2B3448"/>
          </a:solidFill>
          <a:ln/>
          <a:effectLst>
            <a:outerShdw sx="100000" sy="100000" kx="0" ky="0" algn="bl" rotWithShape="0" blurRad="101600" dist="25400" dir="5400000">
              <a:srgbClr val="1C2230">
                <a:alpha val="12000"/>
              </a:srgbClr>
            </a:outerShdw>
          </a:effectLst>
        </p:spPr>
      </p:sp>
      <p:sp>
        <p:nvSpPr>
          <p:cNvPr id="11" name="Built by label"/>
          <p:cNvSpPr txBox="1"/>
          <p:nvPr/>
        </p:nvSpPr>
        <p:spPr>
          <a:xfrm>
            <a:off x="822960" y="5029200"/>
            <a:ext cx="2103120" cy="685800"/>
          </a:xfrm>
          <a:prstGeom prst="rect">
            <a:avLst/>
          </a:prstGeom>
          <a:noFill/>
          <a:ln/>
        </p:spPr>
        <p:txBody>
          <a:bodyPr wrap="square" lIns="0" tIns="0" rIns="0" bIns="0" rtlCol="0" anchor="ctr"/>
          <a:lstStyle/>
          <a:p>
            <a:pPr indent="0" marL="0">
              <a:buNone/>
            </a:pPr>
            <a:r>
              <a:rPr lang="en-US" sz="1200" b="1" spc="100" kern="0" dirty="0">
                <a:solidFill>
                  <a:schemeClr val="accent6"/>
                </a:solidFill>
                <a:latin typeface="Courier New" pitchFamily="34" charset="0"/>
                <a:ea typeface="Courier New" pitchFamily="34" charset="-122"/>
                <a:cs typeface="Courier New" pitchFamily="34" charset="-120"/>
              </a:rPr>
              <a:t>BUILT BY</a:t>
            </a:r>
            <a:endParaRPr lang="en-US" sz="1200" dirty="0"/>
          </a:p>
        </p:txBody>
      </p:sp>
      <p:sp>
        <p:nvSpPr>
          <p:cNvPr id="12" name="Built by value"/>
          <p:cNvSpPr txBox="1"/>
          <p:nvPr/>
        </p:nvSpPr>
        <p:spPr>
          <a:xfrm>
            <a:off x="3017520" y="5029200"/>
            <a:ext cx="4846320" cy="685800"/>
          </a:xfrm>
          <a:prstGeom prst="rect">
            <a:avLst/>
          </a:prstGeom>
          <a:noFill/>
          <a:ln/>
        </p:spPr>
        <p:txBody>
          <a:bodyPr wrap="square" lIns="0" tIns="0" rIns="0" bIns="0" rtlCol="0" anchor="ctr"/>
          <a:lstStyle/>
          <a:p>
            <a:pPr indent="0" marL="0">
              <a:buNone/>
            </a:pPr>
            <a:r>
              <a:rPr lang="en-US" sz="1800" b="1" dirty="0">
                <a:solidFill>
                  <a:schemeClr val="bg1"/>
                </a:solidFill>
              </a:rPr>
              <a:t>Deven Rikame · Kurukshetra Hackathon 2026</a:t>
            </a:r>
            <a:endParaRPr lang="en-US" sz="1800" dirty="0"/>
          </a:p>
        </p:txBody>
      </p:sp>
    </p:spTree>
  </p:cSld>
  <p:clrMapOvr>
    <a:masterClrMapping/>
  </p:clrMapOvr>
</p:sld>
</file>

<file path=ppt/theme/theme1.xml><?xml version="1.0" encoding="utf-8"?>
<a:theme xmlns:a="http://schemas.openxmlformats.org/drawingml/2006/main" name="ProofPath">
  <a:themeElements>
    <a:clrScheme name="ProofPath">
      <a:dk1>
        <a:srgbClr val="1C2230"/>
      </a:dk1>
      <a:lt1>
        <a:srgbClr val="FFFFFF"/>
      </a:lt1>
      <a:dk2>
        <a:srgbClr val="121826"/>
      </a:dk2>
      <a:lt2>
        <a:srgbClr val="F3F4F8"/>
      </a:lt2>
      <a:accent1>
        <a:srgbClr val="5966B8"/>
      </a:accent1>
      <a:accent2>
        <a:srgbClr val="6F80F0"/>
      </a:accent2>
      <a:accent3>
        <a:srgbClr val="2F8F6B"/>
      </a:accent3>
      <a:accent4>
        <a:srgbClr val="B07A12"/>
      </a:accent4>
      <a:accent5>
        <a:srgbClr val="C0495D"/>
      </a:accent5>
      <a:accent6>
        <a:srgbClr val="5EEAD4"/>
      </a:accent6>
      <a:hlink>
        <a:srgbClr val="5966B8"/>
      </a:hlink>
      <a:folHlink>
        <a:srgbClr val="8B919C"/>
      </a:folHlink>
    </a:clrScheme>
    <a:fontScheme name="ProofPat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ProofPath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ProofPath: show what your code actually proves</dc:title>
  <dc:subject>Kurukshetra Hackathon, AI Career Coach challenge</dc:subject>
  <dc:creator>Deven Rikame</dc:creator>
  <cp:lastModifiedBy>Deven Rikame</cp:lastModifiedBy>
  <cp:revision>1</cp:revision>
  <dcterms:created xsi:type="dcterms:W3CDTF">2026-10-17T03:29:25Z</dcterms:created>
  <dcterms:modified xsi:type="dcterms:W3CDTF">2026-10-17T03:29:25Z</dcterms:modified>
</cp:coreProperties>
</file>